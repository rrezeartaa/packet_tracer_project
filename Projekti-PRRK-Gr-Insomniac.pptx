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75" r:id="rId11"/>
    <p:sldId id="266" r:id="rId12"/>
    <p:sldId id="272" r:id="rId13"/>
    <p:sldId id="273" r:id="rId14"/>
    <p:sldId id="274" r:id="rId15"/>
    <p:sldId id="267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33C0C4-AC09-4B96-AE7A-17445B9FE024}" v="967" dt="2021-06-30T09:43:26.486"/>
    <p1510:client id="{85DCC9FF-A41D-485E-B07F-F78B5C37F005}" v="277" dt="2021-06-30T16:19:50.316"/>
    <p1510:client id="{95B250C8-01E6-45BD-B505-77C550EC6C27}" v="10" dt="2021-06-30T10:01:16.112"/>
    <p1510:client id="{A75FE810-AA68-40EA-951C-902F2CFF9E41}" v="198" dt="2021-06-29T22:56:21.894"/>
    <p1510:client id="{F04C230A-336E-4613-9388-3751978A896E}" v="957" dt="2021-06-30T12:30:57.4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6/30/2021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09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6/30/2021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4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6/30/2021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263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6/30/2021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31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=""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=""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6/30/2021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643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6/30/2021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11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6/30/2021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87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6/30/2021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200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=""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6/30/2021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17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=""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6/30/2021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44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6/30/2021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76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6/30/2021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78411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6/30/2021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927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6/30/2021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7998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=""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=""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=""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6/30/2021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159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6/30/2021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64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6/30/2021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064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6/30/2021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497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11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800" i="1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content.dell.com/sites/content/_layouts/xdb.ashx?global:browse:regulatory-spec" TargetMode="External"/><Relationship Id="rId2" Type="http://schemas.openxmlformats.org/officeDocument/2006/relationships/hyperlink" Target="http://content.dell.com/sites/content/_layouts/xdb.ashx?global:browse:productsafety-spec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content.dell.com/sites/content/_layouts/xdb.ashx?global:browse:environment-spec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5A338357-1A6A-4C1E-A6D6-1DCDE6DF42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="" xmlns:a16="http://schemas.microsoft.com/office/drawing/2014/main" id="{E1F51140-4156-423C-9638-1223606FBA1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ltGray">
          <a:xfrm>
            <a:off x="166116" y="164592"/>
            <a:ext cx="11859768" cy="6528816"/>
          </a:xfrm>
          <a:prstGeom prst="rect">
            <a:avLst/>
          </a:prstGeom>
          <a:ln w="15875" cap="sq" cmpd="sng">
            <a:noFill/>
            <a:miter lim="800000"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8889" y="1097280"/>
            <a:ext cx="6043875" cy="4626864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  <a:ea typeface="+mj-lt"/>
                <a:cs typeface="+mj-lt"/>
              </a:rPr>
              <a:t>Implementimi i rrjetës në Policinë e Kosovës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2027" y="1013988"/>
            <a:ext cx="3256177" cy="30352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dirty="0" err="1">
                <a:ea typeface="+mn-lt"/>
                <a:cs typeface="+mn-lt"/>
              </a:rPr>
              <a:t>Lënda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Praktika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Rrjetave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Kompjuterike</a:t>
            </a:r>
            <a:r>
              <a:rPr lang="en-US" dirty="0">
                <a:ea typeface="+mn-lt"/>
                <a:cs typeface="+mn-lt"/>
              </a:rPr>
              <a:t> 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="" xmlns:a16="http://schemas.microsoft.com/office/drawing/2014/main" id="{2DAA738B-EDF5-4694-B25A-3488245BC87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7537395" y="2057399"/>
            <a:ext cx="0" cy="2743200"/>
          </a:xfrm>
          <a:prstGeom prst="line">
            <a:avLst/>
          </a:prstGeom>
          <a:ln w="25400"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022027" y="3325977"/>
            <a:ext cx="233579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 smtClean="0"/>
              <a:t>Studentet</a:t>
            </a:r>
            <a:r>
              <a:rPr lang="en-US" sz="2200" dirty="0" smtClean="0"/>
              <a:t>:</a:t>
            </a:r>
          </a:p>
          <a:p>
            <a:r>
              <a:rPr lang="en-US" sz="2200" dirty="0" smtClean="0"/>
              <a:t>Rrezearta Thaqi</a:t>
            </a:r>
          </a:p>
          <a:p>
            <a:r>
              <a:rPr lang="en-US" sz="2200" dirty="0" smtClean="0"/>
              <a:t>Vanesa Rama</a:t>
            </a:r>
          </a:p>
          <a:p>
            <a:r>
              <a:rPr lang="en-US" sz="2200" dirty="0" err="1" smtClean="0"/>
              <a:t>Vlora</a:t>
            </a:r>
            <a:r>
              <a:rPr lang="en-US" sz="2200" dirty="0" smtClean="0"/>
              <a:t> </a:t>
            </a:r>
            <a:r>
              <a:rPr lang="en-US" sz="2200" dirty="0" err="1" smtClean="0"/>
              <a:t>Gjoka</a:t>
            </a:r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8FA09C42-4CCB-4CDF-8C35-EA2806CA5364}"/>
              </a:ext>
            </a:extLst>
          </p:cNvPr>
          <p:cNvSpPr txBox="1"/>
          <p:nvPr/>
        </p:nvSpPr>
        <p:spPr>
          <a:xfrm>
            <a:off x="696427" y="617624"/>
            <a:ext cx="337000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400" b="1" err="1"/>
              <a:t>Hyrje</a:t>
            </a:r>
            <a:r>
              <a:rPr lang="en-US" sz="2400" b="1"/>
              <a:t> </a:t>
            </a:r>
            <a:endParaRPr lang="en-US" sz="2400">
              <a:ea typeface="+mn-lt"/>
              <a:cs typeface="+mn-lt"/>
            </a:endParaRPr>
          </a:p>
        </p:txBody>
      </p:sp>
      <p:pic>
        <p:nvPicPr>
          <p:cNvPr id="3" name="Picture 3" descr="A picture containing road, tree, outdoor, street&#10;&#10;Description automatically generated">
            <a:extLst>
              <a:ext uri="{FF2B5EF4-FFF2-40B4-BE49-F238E27FC236}">
                <a16:creationId xmlns="" xmlns:a16="http://schemas.microsoft.com/office/drawing/2014/main" id="{A8F77967-196A-49EC-A49B-39D8570FD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0104" y="613329"/>
            <a:ext cx="3194528" cy="2264122"/>
          </a:xfrm>
          <a:prstGeom prst="rect">
            <a:avLst/>
          </a:prstGeom>
        </p:spPr>
      </p:pic>
      <p:pic>
        <p:nvPicPr>
          <p:cNvPr id="4" name="Picture 4" descr="A picture containing close&#10;&#10;Description automatically generated">
            <a:extLst>
              <a:ext uri="{FF2B5EF4-FFF2-40B4-BE49-F238E27FC236}">
                <a16:creationId xmlns="" xmlns:a16="http://schemas.microsoft.com/office/drawing/2014/main" id="{B730A965-B257-453A-A6AD-F41BAB9F7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916" y="3758612"/>
            <a:ext cx="3239242" cy="21531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85D3F29-26EA-4429-B1C9-9E16DCD53619}"/>
              </a:ext>
            </a:extLst>
          </p:cNvPr>
          <p:cNvSpPr txBox="1"/>
          <p:nvPr/>
        </p:nvSpPr>
        <p:spPr>
          <a:xfrm>
            <a:off x="914400" y="1677122"/>
            <a:ext cx="470965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Implementimi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rrjetës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lokale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në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Policinë</a:t>
            </a:r>
            <a:r>
              <a:rPr lang="en-US">
                <a:ea typeface="+mn-lt"/>
                <a:cs typeface="+mn-lt"/>
              </a:rPr>
              <a:t> e </a:t>
            </a:r>
            <a:r>
              <a:rPr lang="en-US" err="1">
                <a:ea typeface="+mn-lt"/>
                <a:cs typeface="+mn-lt"/>
              </a:rPr>
              <a:t>Kosovës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Si </a:t>
            </a:r>
            <a:r>
              <a:rPr lang="en-US" err="1">
                <a:ea typeface="+mn-lt"/>
                <a:cs typeface="+mn-lt"/>
              </a:rPr>
              <a:t>bëhet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lidhja</a:t>
            </a:r>
            <a:r>
              <a:rPr lang="en-US">
                <a:ea typeface="+mn-lt"/>
                <a:cs typeface="+mn-lt"/>
              </a:rPr>
              <a:t> e </a:t>
            </a:r>
            <a:r>
              <a:rPr lang="en-US" err="1">
                <a:ea typeface="+mn-lt"/>
                <a:cs typeface="+mn-lt"/>
              </a:rPr>
              <a:t>komponentëve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të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rrjetës</a:t>
            </a:r>
            <a:r>
              <a:rPr lang="en-US">
                <a:ea typeface="+mn-lt"/>
                <a:cs typeface="+mn-lt"/>
              </a:rPr>
              <a:t>?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Si </a:t>
            </a:r>
            <a:r>
              <a:rPr lang="en-US" err="1">
                <a:ea typeface="+mn-lt"/>
                <a:cs typeface="+mn-lt"/>
              </a:rPr>
              <a:t>arrihet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komunikimi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sigurtë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tyre</a:t>
            </a:r>
            <a:r>
              <a:rPr lang="en-US">
                <a:ea typeface="+mn-lt"/>
                <a:cs typeface="+mn-lt"/>
              </a:rPr>
              <a:t>?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D796E5B-B10A-4B73-B092-F4F022B145E7}"/>
              </a:ext>
            </a:extLst>
          </p:cNvPr>
          <p:cNvSpPr txBox="1"/>
          <p:nvPr/>
        </p:nvSpPr>
        <p:spPr>
          <a:xfrm>
            <a:off x="698687" y="3522570"/>
            <a:ext cx="308825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1" err="1">
                <a:ea typeface="+mn-lt"/>
                <a:cs typeface="+mn-lt"/>
              </a:rPr>
              <a:t>Infrastruktura</a:t>
            </a:r>
            <a:endParaRPr lang="en-US" sz="2400" err="1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5939D720-1DD1-4E72-AF48-9E67F85CFE6C}"/>
              </a:ext>
            </a:extLst>
          </p:cNvPr>
          <p:cNvSpPr txBox="1"/>
          <p:nvPr/>
        </p:nvSpPr>
        <p:spPr>
          <a:xfrm>
            <a:off x="920002" y="4248150"/>
            <a:ext cx="570155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ea typeface="+mn-lt"/>
                <a:cs typeface="+mn-lt"/>
              </a:rPr>
              <a:t>Shtrirja</a:t>
            </a:r>
            <a:r>
              <a:rPr lang="en-US">
                <a:ea typeface="+mn-lt"/>
                <a:cs typeface="+mn-lt"/>
              </a:rPr>
              <a:t> e </a:t>
            </a:r>
            <a:r>
              <a:rPr lang="en-US" err="1">
                <a:ea typeface="+mn-lt"/>
                <a:cs typeface="+mn-lt"/>
              </a:rPr>
              <a:t>rrjetës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në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ndërtesa</a:t>
            </a:r>
            <a:r>
              <a:rPr lang="en-US">
                <a:ea typeface="+mn-lt"/>
                <a:cs typeface="+mn-lt"/>
              </a:rPr>
              <a:t> 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Ndërtesa</a:t>
            </a:r>
            <a:r>
              <a:rPr lang="en-US">
                <a:ea typeface="+mn-lt"/>
                <a:cs typeface="+mn-lt"/>
              </a:rPr>
              <a:t> e </a:t>
            </a:r>
            <a:r>
              <a:rPr lang="en-US" err="1">
                <a:ea typeface="+mn-lt"/>
                <a:cs typeface="+mn-lt"/>
              </a:rPr>
              <a:t>parë</a:t>
            </a:r>
            <a:r>
              <a:rPr lang="en-US">
                <a:ea typeface="+mn-lt"/>
                <a:cs typeface="+mn-lt"/>
              </a:rPr>
              <a:t> 3 </a:t>
            </a:r>
            <a:r>
              <a:rPr lang="en-US" err="1">
                <a:ea typeface="+mn-lt"/>
                <a:cs typeface="+mn-lt"/>
              </a:rPr>
              <a:t>kate</a:t>
            </a:r>
            <a:r>
              <a:rPr lang="en-US">
                <a:ea typeface="+mn-lt"/>
                <a:cs typeface="+mn-lt"/>
              </a:rPr>
              <a:t>( </a:t>
            </a:r>
            <a:r>
              <a:rPr lang="en-US" err="1">
                <a:ea typeface="+mn-lt"/>
                <a:cs typeface="+mn-lt"/>
              </a:rPr>
              <a:t>departamentet</a:t>
            </a:r>
            <a:r>
              <a:rPr lang="en-US">
                <a:ea typeface="+mn-lt"/>
                <a:cs typeface="+mn-lt"/>
              </a:rPr>
              <a:t> 1, 4, 8, 9, 10)</a:t>
            </a:r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Ndërtesa</a:t>
            </a:r>
            <a:r>
              <a:rPr lang="en-US">
                <a:ea typeface="+mn-lt"/>
                <a:cs typeface="+mn-lt"/>
              </a:rPr>
              <a:t> e </a:t>
            </a:r>
            <a:r>
              <a:rPr lang="en-US" err="1">
                <a:ea typeface="+mn-lt"/>
                <a:cs typeface="+mn-lt"/>
              </a:rPr>
              <a:t>dytë</a:t>
            </a:r>
            <a:r>
              <a:rPr lang="en-US">
                <a:ea typeface="+mn-lt"/>
                <a:cs typeface="+mn-lt"/>
              </a:rPr>
              <a:t> 2 </a:t>
            </a:r>
            <a:r>
              <a:rPr lang="en-US" err="1">
                <a:ea typeface="+mn-lt"/>
                <a:cs typeface="+mn-lt"/>
              </a:rPr>
              <a:t>kate</a:t>
            </a:r>
            <a:r>
              <a:rPr lang="en-US">
                <a:ea typeface="+mn-lt"/>
                <a:cs typeface="+mn-lt"/>
              </a:rPr>
              <a:t> ( </a:t>
            </a:r>
            <a:r>
              <a:rPr lang="en-US" err="1">
                <a:ea typeface="+mn-lt"/>
                <a:cs typeface="+mn-lt"/>
              </a:rPr>
              <a:t>departamentet</a:t>
            </a:r>
            <a:r>
              <a:rPr lang="en-US">
                <a:ea typeface="+mn-lt"/>
                <a:cs typeface="+mn-lt"/>
              </a:rPr>
              <a:t> 2, 3, 5, 6, 7)</a:t>
            </a:r>
            <a:endParaRPr lang="en-US"/>
          </a:p>
          <a:p>
            <a:r>
              <a:rPr lang="en-US"/>
              <a:t/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808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784E99F-86B6-423E-9C2E-4C07954B07CB}"/>
              </a:ext>
            </a:extLst>
          </p:cNvPr>
          <p:cNvSpPr txBox="1"/>
          <p:nvPr/>
        </p:nvSpPr>
        <p:spPr>
          <a:xfrm>
            <a:off x="488576" y="611841"/>
            <a:ext cx="393652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b="1" err="1">
                <a:ea typeface="+mn-lt"/>
                <a:cs typeface="+mn-lt"/>
              </a:rPr>
              <a:t>Kërkesat</a:t>
            </a:r>
            <a:r>
              <a:rPr lang="en-US" sz="2400" b="1">
                <a:ea typeface="+mn-lt"/>
                <a:cs typeface="+mn-lt"/>
              </a:rPr>
              <a:t> </a:t>
            </a:r>
            <a:r>
              <a:rPr lang="en-US" sz="2400" b="1" err="1">
                <a:ea typeface="+mn-lt"/>
                <a:cs typeface="+mn-lt"/>
              </a:rPr>
              <a:t>dhe</a:t>
            </a:r>
            <a:r>
              <a:rPr lang="en-US" sz="2400" b="1">
                <a:ea typeface="+mn-lt"/>
                <a:cs typeface="+mn-lt"/>
              </a:rPr>
              <a:t> </a:t>
            </a:r>
            <a:r>
              <a:rPr lang="en-US" sz="2400" b="1" err="1">
                <a:ea typeface="+mn-lt"/>
                <a:cs typeface="+mn-lt"/>
              </a:rPr>
              <a:t>Nevojat</a:t>
            </a:r>
            <a:endParaRPr lang="en-US" sz="2400" err="1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4DEF508-D357-4406-9563-D7C153A712E9}"/>
              </a:ext>
            </a:extLst>
          </p:cNvPr>
          <p:cNvSpPr txBox="1"/>
          <p:nvPr/>
        </p:nvSpPr>
        <p:spPr>
          <a:xfrm>
            <a:off x="956633" y="1244181"/>
            <a:ext cx="741584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Komunikim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pandërprerë</a:t>
            </a:r>
            <a:r>
              <a:rPr lang="en-US">
                <a:ea typeface="+mn-lt"/>
                <a:cs typeface="+mn-lt"/>
              </a:rPr>
              <a:t> ne </a:t>
            </a:r>
            <a:r>
              <a:rPr lang="en-US" err="1">
                <a:ea typeface="+mn-lt"/>
                <a:cs typeface="+mn-lt"/>
              </a:rPr>
              <a:t>mes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departamenteve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policis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Mirëmbajtje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dhe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përkrahje</a:t>
            </a:r>
            <a:r>
              <a:rPr lang="en-US">
                <a:ea typeface="+mn-lt"/>
                <a:cs typeface="+mn-lt"/>
              </a:rPr>
              <a:t> e  </a:t>
            </a:r>
            <a:r>
              <a:rPr lang="en-US" err="1">
                <a:ea typeface="+mn-lt"/>
                <a:cs typeface="+mn-lt"/>
              </a:rPr>
              <a:t>vazhdueshme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teknike</a:t>
            </a:r>
            <a:r>
              <a:rPr lang="en-US">
                <a:ea typeface="+mn-lt"/>
                <a:cs typeface="+mn-lt"/>
              </a:rPr>
              <a:t> e </a:t>
            </a:r>
            <a:r>
              <a:rPr lang="en-US" err="1">
                <a:ea typeface="+mn-lt"/>
                <a:cs typeface="+mn-lt"/>
              </a:rPr>
              <a:t>rrjetës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Internet </a:t>
            </a:r>
            <a:r>
              <a:rPr lang="en-US" err="1"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shpejtë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dhe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stabil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Shërbimi</a:t>
            </a:r>
            <a:r>
              <a:rPr lang="en-US">
                <a:ea typeface="+mn-lt"/>
                <a:cs typeface="+mn-lt"/>
              </a:rPr>
              <a:t> VLAN </a:t>
            </a:r>
            <a:r>
              <a:rPr lang="en-US" err="1">
                <a:ea typeface="+mn-lt"/>
                <a:cs typeface="+mn-lt"/>
              </a:rPr>
              <a:t>për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qasur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dhe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për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kontrolluar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secilin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departament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etj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7719021-7743-4387-B714-A5E336E7BC39}"/>
              </a:ext>
            </a:extLst>
          </p:cNvPr>
          <p:cNvSpPr txBox="1"/>
          <p:nvPr/>
        </p:nvSpPr>
        <p:spPr>
          <a:xfrm>
            <a:off x="495659" y="3284867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sz="2400" b="1" err="1"/>
              <a:t>Objektivat</a:t>
            </a:r>
            <a:endParaRPr lang="en-US" sz="2400" b="1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1D0A6B0-49E4-45A8-9E03-9FA226701476}"/>
              </a:ext>
            </a:extLst>
          </p:cNvPr>
          <p:cNvSpPr txBox="1"/>
          <p:nvPr/>
        </p:nvSpPr>
        <p:spPr>
          <a:xfrm>
            <a:off x="813759" y="4163683"/>
            <a:ext cx="1078014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err="1">
                <a:ea typeface="+mn-lt"/>
                <a:cs typeface="+mn-lt"/>
              </a:rPr>
              <a:t>Dizajnimi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topologjisë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fizike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dhe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asaj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logjike</a:t>
            </a:r>
            <a:endParaRPr lang="en-US" err="1"/>
          </a:p>
          <a:p>
            <a:pPr marL="342900" indent="-342900">
              <a:buAutoNum type="arabicPeriod"/>
            </a:pPr>
            <a:r>
              <a:rPr lang="en-US" err="1">
                <a:ea typeface="+mn-lt"/>
                <a:cs typeface="+mn-lt"/>
              </a:rPr>
              <a:t>Subnetimi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për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secilin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departament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ku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secili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departament</a:t>
            </a:r>
            <a:r>
              <a:rPr lang="en-US">
                <a:ea typeface="+mn-lt"/>
                <a:cs typeface="+mn-lt"/>
              </a:rPr>
              <a:t> do </a:t>
            </a:r>
            <a:r>
              <a:rPr lang="en-US" err="1">
                <a:ea typeface="+mn-lt"/>
                <a:cs typeface="+mn-lt"/>
              </a:rPr>
              <a:t>të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posedojë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rangun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unik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të</a:t>
            </a:r>
            <a:r>
              <a:rPr lang="en-US">
                <a:ea typeface="+mn-lt"/>
                <a:cs typeface="+mn-lt"/>
              </a:rPr>
              <a:t> IP </a:t>
            </a:r>
            <a:r>
              <a:rPr lang="en-US" err="1">
                <a:ea typeface="+mn-lt"/>
                <a:cs typeface="+mn-lt"/>
              </a:rPr>
              <a:t>adresave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për</a:t>
            </a:r>
            <a:r>
              <a:rPr lang="en-US">
                <a:ea typeface="+mn-lt"/>
                <a:cs typeface="+mn-lt"/>
              </a:rPr>
              <a:t> host-a.</a:t>
            </a:r>
          </a:p>
          <a:p>
            <a:pPr marL="342900" indent="-342900">
              <a:buAutoNum type="arabicPeriod"/>
            </a:pPr>
            <a:r>
              <a:rPr lang="en-US" err="1">
                <a:ea typeface="+mn-lt"/>
                <a:cs typeface="+mn-lt"/>
              </a:rPr>
              <a:t>Sigurimi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mbrojtjes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së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paisjeve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nga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dëmet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elektrike</a:t>
            </a:r>
          </a:p>
          <a:p>
            <a:pPr marL="342900" indent="-342900">
              <a:buAutoNum type="arabicPeriod"/>
            </a:pPr>
            <a:r>
              <a:rPr lang="en-US" err="1">
                <a:ea typeface="+mn-lt"/>
                <a:cs typeface="+mn-lt"/>
              </a:rPr>
              <a:t>Ofrimi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kabllimit</a:t>
            </a:r>
            <a:r>
              <a:rPr lang="en-US">
                <a:ea typeface="+mn-lt"/>
                <a:cs typeface="+mn-lt"/>
              </a:rPr>
              <a:t> horizontal </a:t>
            </a:r>
            <a:r>
              <a:rPr lang="en-US" err="1">
                <a:ea typeface="+mn-lt"/>
                <a:cs typeface="+mn-lt"/>
              </a:rPr>
              <a:t>dhe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vertikal</a:t>
            </a:r>
          </a:p>
          <a:p>
            <a:pPr marL="342900" indent="-342900">
              <a:buAutoNum type="arabicPeriod"/>
            </a:pPr>
            <a:r>
              <a:rPr lang="en-US" err="1">
                <a:ea typeface="+mn-lt"/>
                <a:cs typeface="+mn-lt"/>
              </a:rPr>
              <a:t>Sigurimi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një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dhome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për</a:t>
            </a:r>
            <a:r>
              <a:rPr lang="en-US">
                <a:ea typeface="+mn-lt"/>
                <a:cs typeface="+mn-lt"/>
              </a:rPr>
              <a:t> server </a:t>
            </a:r>
            <a:r>
              <a:rPr lang="en-US" err="1">
                <a:ea typeface="+mn-lt"/>
                <a:cs typeface="+mn-lt"/>
              </a:rPr>
              <a:t>si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dhe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kabllimi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saj</a:t>
            </a:r>
          </a:p>
          <a:p>
            <a:pPr marL="342900" indent="-342900">
              <a:buAutoNum type="arabicPeriod"/>
            </a:pPr>
            <a:r>
              <a:rPr lang="en-US" err="1">
                <a:ea typeface="+mn-lt"/>
                <a:cs typeface="+mn-lt"/>
              </a:rPr>
              <a:t>Ofrimi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shërbimeve</a:t>
            </a:r>
            <a:r>
              <a:rPr lang="en-US">
                <a:ea typeface="+mn-lt"/>
                <a:cs typeface="+mn-lt"/>
              </a:rPr>
              <a:t>  </a:t>
            </a:r>
            <a:r>
              <a:rPr lang="en-US" err="1">
                <a:ea typeface="+mn-lt"/>
                <a:cs typeface="+mn-lt"/>
              </a:rPr>
              <a:t>si</a:t>
            </a:r>
            <a:r>
              <a:rPr lang="en-US">
                <a:ea typeface="+mn-lt"/>
                <a:cs typeface="+mn-lt"/>
              </a:rPr>
              <a:t> DHCP, DNS, Wi-Fi, HTTPS, SSH, E-mail server, Web Server)</a:t>
            </a:r>
          </a:p>
          <a:p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10" name="Rectangle: Single Corner Rounded 9">
            <a:extLst>
              <a:ext uri="{FF2B5EF4-FFF2-40B4-BE49-F238E27FC236}">
                <a16:creationId xmlns="" xmlns:a16="http://schemas.microsoft.com/office/drawing/2014/main" id="{EB9747A9-00AC-43B7-B998-3D5679995971}"/>
              </a:ext>
            </a:extLst>
          </p:cNvPr>
          <p:cNvSpPr/>
          <p:nvPr/>
        </p:nvSpPr>
        <p:spPr>
          <a:xfrm rot="10800000">
            <a:off x="10742763" y="-4314"/>
            <a:ext cx="1452112" cy="1380225"/>
          </a:xfrm>
          <a:prstGeom prst="round1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711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D9B0FA0-ED6F-4C70-A3EF-33052FB773AD}"/>
              </a:ext>
            </a:extLst>
          </p:cNvPr>
          <p:cNvSpPr txBox="1"/>
          <p:nvPr/>
        </p:nvSpPr>
        <p:spPr>
          <a:xfrm>
            <a:off x="641231" y="626853"/>
            <a:ext cx="525923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 </a:t>
            </a:r>
            <a:r>
              <a:rPr lang="en-US" sz="2400" b="1" err="1">
                <a:ea typeface="+mn-lt"/>
                <a:cs typeface="+mn-lt"/>
              </a:rPr>
              <a:t>Rekomandime</a:t>
            </a:r>
            <a:r>
              <a:rPr lang="en-US" sz="2400" b="1">
                <a:ea typeface="+mn-lt"/>
                <a:cs typeface="+mn-lt"/>
              </a:rPr>
              <a:t> </a:t>
            </a:r>
            <a:r>
              <a:rPr lang="en-US" sz="2400" b="1" err="1">
                <a:ea typeface="+mn-lt"/>
                <a:cs typeface="+mn-lt"/>
              </a:rPr>
              <a:t>për</a:t>
            </a:r>
            <a:r>
              <a:rPr lang="en-US" sz="2400" b="1">
                <a:ea typeface="+mn-lt"/>
                <a:cs typeface="+mn-lt"/>
              </a:rPr>
              <a:t> </a:t>
            </a:r>
            <a:r>
              <a:rPr lang="en-US" sz="2400" b="1" err="1">
                <a:ea typeface="+mn-lt"/>
                <a:cs typeface="+mn-lt"/>
              </a:rPr>
              <a:t>pajisjet</a:t>
            </a:r>
            <a:r>
              <a:rPr lang="en-US" sz="2400" b="1">
                <a:ea typeface="+mn-lt"/>
                <a:cs typeface="+mn-lt"/>
              </a:rPr>
              <a:t> e </a:t>
            </a:r>
            <a:r>
              <a:rPr lang="en-US" sz="2400" b="1" err="1">
                <a:ea typeface="+mn-lt"/>
                <a:cs typeface="+mn-lt"/>
              </a:rPr>
              <a:t>rrjetës</a:t>
            </a:r>
            <a:endParaRPr lang="en-US" sz="2400" err="1">
              <a:ea typeface="+mn-lt"/>
              <a:cs typeface="+mn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5816A3C0-55A5-44D9-B39C-514B88DCC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391081"/>
              </p:ext>
            </p:extLst>
          </p:nvPr>
        </p:nvGraphicFramePr>
        <p:xfrm>
          <a:off x="1030941" y="1423146"/>
          <a:ext cx="9704176" cy="47517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6044">
                  <a:extLst>
                    <a:ext uri="{9D8B030D-6E8A-4147-A177-3AD203B41FA5}">
                      <a16:colId xmlns="" xmlns:a16="http://schemas.microsoft.com/office/drawing/2014/main" val="3142568949"/>
                    </a:ext>
                  </a:extLst>
                </a:gridCol>
                <a:gridCol w="2426044">
                  <a:extLst>
                    <a:ext uri="{9D8B030D-6E8A-4147-A177-3AD203B41FA5}">
                      <a16:colId xmlns="" xmlns:a16="http://schemas.microsoft.com/office/drawing/2014/main" val="1417721417"/>
                    </a:ext>
                  </a:extLst>
                </a:gridCol>
                <a:gridCol w="2426044">
                  <a:extLst>
                    <a:ext uri="{9D8B030D-6E8A-4147-A177-3AD203B41FA5}">
                      <a16:colId xmlns="" xmlns:a16="http://schemas.microsoft.com/office/drawing/2014/main" val="2382093530"/>
                    </a:ext>
                  </a:extLst>
                </a:gridCol>
                <a:gridCol w="2426044">
                  <a:extLst>
                    <a:ext uri="{9D8B030D-6E8A-4147-A177-3AD203B41FA5}">
                      <a16:colId xmlns="" xmlns:a16="http://schemas.microsoft.com/office/drawing/2014/main" val="1419945375"/>
                    </a:ext>
                  </a:extLst>
                </a:gridCol>
              </a:tblGrid>
              <a:tr h="684938">
                <a:tc>
                  <a:txBody>
                    <a:bodyPr/>
                    <a:lstStyle/>
                    <a:p>
                      <a:pPr marL="635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 err="1">
                          <a:effectLst/>
                        </a:rPr>
                        <a:t>Lloji</a:t>
                      </a:r>
                      <a:r>
                        <a:rPr lang="en-US" sz="1100">
                          <a:effectLst/>
                        </a:rPr>
                        <a:t> </a:t>
                      </a:r>
                      <a:r>
                        <a:rPr lang="en-US" sz="1100" err="1">
                          <a:effectLst/>
                        </a:rPr>
                        <a:t>i</a:t>
                      </a:r>
                      <a:r>
                        <a:rPr lang="en-US" sz="1100">
                          <a:effectLst/>
                        </a:rPr>
                        <a:t> </a:t>
                      </a:r>
                      <a:r>
                        <a:rPr lang="en-US" sz="1100" err="1">
                          <a:effectLst/>
                        </a:rPr>
                        <a:t>paisjes</a:t>
                      </a:r>
                      <a:endParaRPr lang="en-US" err="1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762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 err="1">
                          <a:effectLst/>
                        </a:rPr>
                        <a:t>Modeli</a:t>
                      </a:r>
                      <a:endParaRPr lang="en-US" err="1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254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</a:rPr>
                        <a:t>Sasia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254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 err="1">
                          <a:effectLst/>
                        </a:rPr>
                        <a:t>Cmimi</a:t>
                      </a:r>
                      <a:endParaRPr lang="en-US" err="1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="" xmlns:a16="http://schemas.microsoft.com/office/drawing/2014/main" val="2094092410"/>
                  </a:ext>
                </a:extLst>
              </a:tr>
              <a:tr h="684938">
                <a:tc>
                  <a:txBody>
                    <a:bodyPr/>
                    <a:lstStyle/>
                    <a:p>
                      <a:pPr marL="635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</a:rPr>
                        <a:t>Server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762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</a:rPr>
                        <a:t>Server SUN E6500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254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254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</a:rPr>
                        <a:t>29000 €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="" xmlns:a16="http://schemas.microsoft.com/office/drawing/2014/main" val="2519053233"/>
                  </a:ext>
                </a:extLst>
              </a:tr>
              <a:tr h="674235">
                <a:tc>
                  <a:txBody>
                    <a:bodyPr/>
                    <a:lstStyle/>
                    <a:p>
                      <a:pPr marL="635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</a:rPr>
                        <a:t>Switch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762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</a:rPr>
                        <a:t>2960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254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</a:rPr>
                        <a:t>13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254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</a:rPr>
                        <a:t>19280 €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="" xmlns:a16="http://schemas.microsoft.com/office/drawing/2014/main" val="1465183386"/>
                  </a:ext>
                </a:extLst>
              </a:tr>
              <a:tr h="663533">
                <a:tc>
                  <a:txBody>
                    <a:bodyPr/>
                    <a:lstStyle/>
                    <a:p>
                      <a:pPr marL="635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 err="1">
                          <a:effectLst/>
                        </a:rPr>
                        <a:t>Kabllot</a:t>
                      </a:r>
                      <a:endParaRPr lang="en-US" err="1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762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</a:rPr>
                        <a:t>UTP, </a:t>
                      </a:r>
                      <a:r>
                        <a:rPr lang="en-US" sz="1100" err="1">
                          <a:effectLst/>
                        </a:rPr>
                        <a:t>Fibër</a:t>
                      </a:r>
                      <a:r>
                        <a:rPr lang="en-US" sz="1100">
                          <a:effectLst/>
                        </a:rPr>
                        <a:t>, Coaxial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254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</a:rPr>
                        <a:t>3200m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</a:rPr>
                        <a:t>480 €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="" xmlns:a16="http://schemas.microsoft.com/office/drawing/2014/main" val="4058440272"/>
                  </a:ext>
                </a:extLst>
              </a:tr>
              <a:tr h="695639">
                <a:tc>
                  <a:txBody>
                    <a:bodyPr/>
                    <a:lstStyle/>
                    <a:p>
                      <a:pPr marL="635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</a:rPr>
                        <a:t>PC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762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</a:rPr>
                        <a:t>Dell OptiPlex 3050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254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</a:rPr>
                        <a:t>270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254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</a:rPr>
                        <a:t>81000 €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="" xmlns:a16="http://schemas.microsoft.com/office/drawing/2014/main" val="1926398911"/>
                  </a:ext>
                </a:extLst>
              </a:tr>
              <a:tr h="674235">
                <a:tc>
                  <a:txBody>
                    <a:bodyPr/>
                    <a:lstStyle/>
                    <a:p>
                      <a:pPr marL="635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</a:rPr>
                        <a:t>Laptop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762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</a:rPr>
                        <a:t>DELL Latitude 3590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254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</a:rPr>
                        <a:t>270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254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</a:rPr>
                        <a:t>81000 €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="" xmlns:a16="http://schemas.microsoft.com/office/drawing/2014/main" val="797451692"/>
                  </a:ext>
                </a:extLst>
              </a:tr>
              <a:tr h="674235">
                <a:tc>
                  <a:txBody>
                    <a:bodyPr/>
                    <a:lstStyle/>
                    <a:p>
                      <a:pPr marL="635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</a:rPr>
                        <a:t>Router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762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</a:rPr>
                        <a:t>2911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254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254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</a:rPr>
                        <a:t>7000 €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="" xmlns:a16="http://schemas.microsoft.com/office/drawing/2014/main" val="19420879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F1D987C-83F8-468F-8E0B-D43F8B5E1267}"/>
              </a:ext>
            </a:extLst>
          </p:cNvPr>
          <p:cNvSpPr txBox="1"/>
          <p:nvPr/>
        </p:nvSpPr>
        <p:spPr>
          <a:xfrm>
            <a:off x="5475194" y="3009900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917853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966B8FA-B5FE-4888-B014-5BBE4C50FD99}"/>
              </a:ext>
            </a:extLst>
          </p:cNvPr>
          <p:cNvSpPr txBox="1"/>
          <p:nvPr/>
        </p:nvSpPr>
        <p:spPr>
          <a:xfrm>
            <a:off x="376518" y="365312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Font typeface="Arial"/>
              <a:buChar char="•"/>
            </a:pPr>
            <a:r>
              <a:rPr lang="en-US" sz="2400" b="1"/>
              <a:t>Switch</a:t>
            </a:r>
            <a:endParaRPr lang="en-US" b="1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="" xmlns:a16="http://schemas.microsoft.com/office/drawing/2014/main" id="{690DE8DB-C187-40CB-8EFE-7CB7DC65676B}"/>
              </a:ext>
            </a:extLst>
          </p:cNvPr>
          <p:cNvCxnSpPr/>
          <p:nvPr/>
        </p:nvCxnSpPr>
        <p:spPr>
          <a:xfrm>
            <a:off x="313204" y="940735"/>
            <a:ext cx="9480175" cy="224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" name="Picture 4">
            <a:extLst>
              <a:ext uri="{FF2B5EF4-FFF2-40B4-BE49-F238E27FC236}">
                <a16:creationId xmlns="" xmlns:a16="http://schemas.microsoft.com/office/drawing/2014/main" id="{71E5408C-3473-4938-8945-2DF9D2763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782" y="1400264"/>
            <a:ext cx="3771720" cy="1038225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="" xmlns:a16="http://schemas.microsoft.com/office/drawing/2014/main" id="{B4E439D7-B762-487C-8F1E-F182CE795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030" y="4970522"/>
            <a:ext cx="3754467" cy="10001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EA38535-B6E3-419A-B1F1-210DE4E2F7C7}"/>
              </a:ext>
            </a:extLst>
          </p:cNvPr>
          <p:cNvSpPr txBox="1"/>
          <p:nvPr/>
        </p:nvSpPr>
        <p:spPr>
          <a:xfrm>
            <a:off x="9152627" y="2725947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/>
              <a:t>Fig.1 Cisco Switch 2960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A2B775FD-7CFD-438B-92E6-B9FC432CF5D8}"/>
              </a:ext>
            </a:extLst>
          </p:cNvPr>
          <p:cNvSpPr txBox="1"/>
          <p:nvPr/>
        </p:nvSpPr>
        <p:spPr>
          <a:xfrm>
            <a:off x="8965721" y="6104626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/>
              <a:t>Fig.2 Cisco Switch 2950T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70F3501-6E9A-4429-B7E1-2BDE6EDD551E}"/>
              </a:ext>
            </a:extLst>
          </p:cNvPr>
          <p:cNvSpPr txBox="1"/>
          <p:nvPr/>
        </p:nvSpPr>
        <p:spPr>
          <a:xfrm>
            <a:off x="308754" y="5024526"/>
            <a:ext cx="2743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24 ports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16 MB SDRAM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8 MB flash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AEDFDE3D-5F45-4D73-B918-442695948E4F}"/>
              </a:ext>
            </a:extLst>
          </p:cNvPr>
          <p:cNvSpPr txBox="1"/>
          <p:nvPr/>
        </p:nvSpPr>
        <p:spPr>
          <a:xfrm>
            <a:off x="235968" y="3226460"/>
            <a:ext cx="878168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10 and 1 Gigabit Ethernet uplink flexibility with Small Form-Factor Pluggable Plus (SFP+), providing business continuity and fast transition to 10 Gigabit Ethernet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24 or 48 ports of Gigabit Ethernet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PoE+ with up to 30W per port that allows you to support the latest PoE+ capable devices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USB storage for file backup, distribution, and simplified operations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729F9CE1-29E8-45C1-86FF-59B009445E76}"/>
              </a:ext>
            </a:extLst>
          </p:cNvPr>
          <p:cNvSpPr txBox="1"/>
          <p:nvPr/>
        </p:nvSpPr>
        <p:spPr>
          <a:xfrm>
            <a:off x="238664" y="1043797"/>
            <a:ext cx="833599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 Wire-speed performance for concurrent services such as security and voice·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/>
              <a:t>Enhanced investment protection through increased performance and modularity·    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Increased density through High-Speed WAN Interface Card Slots (four)·    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/>
              <a:t>Enhanced Network Module Slot·     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Support for over 90 existing and new modules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Support</a:t>
            </a:r>
            <a:r>
              <a:rPr lang="en-US" dirty="0">
                <a:ea typeface="+mn-lt"/>
                <a:cs typeface="+mn-lt"/>
              </a:rPr>
              <a:t> for majority of existing AIMs, NMs, WICs, VWICs, and VICs</a:t>
            </a: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358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56827C3C-D52F-46CE-A441-3CD6A1A6A0A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137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F52A8B51-0A89-497B-B882-6658E029A3F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43467" y="643466"/>
            <a:ext cx="3522548" cy="5571067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EB1CEFBF-6F09-4052-862B-E219DA1575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326882" y="643466"/>
            <a:ext cx="3522548" cy="5571067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BCB5D417-2A71-445D-B4C7-9E814D633D3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022847" y="643466"/>
            <a:ext cx="3522548" cy="5571067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3">
            <a:extLst>
              <a:ext uri="{FF2B5EF4-FFF2-40B4-BE49-F238E27FC236}">
                <a16:creationId xmlns="" xmlns:a16="http://schemas.microsoft.com/office/drawing/2014/main" id="{A7436E0B-C45F-4D57-A625-DD8F78C6A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696" y="1285247"/>
            <a:ext cx="2880360" cy="1613316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="" xmlns:a16="http://schemas.microsoft.com/office/drawing/2014/main" id="{6FACD7BA-F420-4B3E-8606-0194267E3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276" y="1285892"/>
            <a:ext cx="2880360" cy="1756815"/>
          </a:xfrm>
          <a:prstGeom prst="rect">
            <a:avLst/>
          </a:prstGeom>
        </p:spPr>
      </p:pic>
      <p:pic>
        <p:nvPicPr>
          <p:cNvPr id="12" name="Picture 4">
            <a:extLst>
              <a:ext uri="{FF2B5EF4-FFF2-40B4-BE49-F238E27FC236}">
                <a16:creationId xmlns="" xmlns:a16="http://schemas.microsoft.com/office/drawing/2014/main" id="{81BC0771-1B9D-4832-AC59-FFAFE80A5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2068" y="1280016"/>
            <a:ext cx="2879083" cy="19113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F62529D-1259-460F-8EB6-95FBE777FDF1}"/>
              </a:ext>
            </a:extLst>
          </p:cNvPr>
          <p:cNvSpPr txBox="1"/>
          <p:nvPr/>
        </p:nvSpPr>
        <p:spPr>
          <a:xfrm>
            <a:off x="674002" y="3727710"/>
            <a:ext cx="3471581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chemeClr val="bg1"/>
                </a:solidFill>
              </a:rPr>
              <a:t>Përdoret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për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lidhjen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ndërmjet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pajisjeve</a:t>
            </a:r>
            <a:r>
              <a:rPr lang="en-US" sz="1600">
                <a:solidFill>
                  <a:schemeClr val="bg1"/>
                </a:solidFill>
              </a:rPr>
              <a:t> neper </a:t>
            </a:r>
            <a:r>
              <a:rPr lang="en-US" sz="1600" err="1">
                <a:solidFill>
                  <a:schemeClr val="bg1"/>
                </a:solidFill>
              </a:rPr>
              <a:t>te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gjitha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departamentet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përkatëse</a:t>
            </a:r>
            <a:r>
              <a:rPr lang="en-US" sz="160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chemeClr val="bg1"/>
                </a:solidFill>
              </a:rPr>
              <a:t>Mjaft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i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përshtatshëm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për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implementim</a:t>
            </a:r>
            <a:r>
              <a:rPr lang="en-US" sz="1600">
                <a:solidFill>
                  <a:schemeClr val="bg1"/>
                </a:solidFill>
              </a:rPr>
              <a:t> ne </a:t>
            </a:r>
            <a:r>
              <a:rPr lang="en-US" sz="1600" err="1">
                <a:solidFill>
                  <a:schemeClr val="bg1"/>
                </a:solidFill>
              </a:rPr>
              <a:t>rrjete</a:t>
            </a:r>
            <a:r>
              <a:rPr lang="en-US" sz="1600">
                <a:solidFill>
                  <a:schemeClr val="bg1"/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Ka </a:t>
            </a:r>
            <a:r>
              <a:rPr lang="en-US" sz="1600" err="1">
                <a:solidFill>
                  <a:schemeClr val="bg1"/>
                </a:solidFill>
              </a:rPr>
              <a:t>kosto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te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ulet</a:t>
            </a:r>
            <a:r>
              <a:rPr lang="en-US" sz="1600">
                <a:solidFill>
                  <a:schemeClr val="bg1"/>
                </a:solidFill>
              </a:rPr>
              <a:t>.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9BE9518D-1D80-481F-ABE4-B2AAFE34EE94}"/>
              </a:ext>
            </a:extLst>
          </p:cNvPr>
          <p:cNvSpPr txBox="1"/>
          <p:nvPr/>
        </p:nvSpPr>
        <p:spPr>
          <a:xfrm>
            <a:off x="4477871" y="3732362"/>
            <a:ext cx="297852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600" err="1">
                <a:solidFill>
                  <a:schemeClr val="bg1"/>
                </a:solidFill>
              </a:rPr>
              <a:t>Përdoret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për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lidhjen</a:t>
            </a:r>
            <a:r>
              <a:rPr lang="en-US" sz="1600">
                <a:solidFill>
                  <a:schemeClr val="bg1"/>
                </a:solidFill>
              </a:rPr>
              <a:t> e </a:t>
            </a:r>
            <a:r>
              <a:rPr lang="en-US" sz="1600" err="1">
                <a:solidFill>
                  <a:schemeClr val="bg1"/>
                </a:solidFill>
              </a:rPr>
              <a:t>ruterëve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kryesorë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në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rrjete</a:t>
            </a:r>
            <a:r>
              <a:rPr lang="en-US" sz="1600">
                <a:solidFill>
                  <a:schemeClr val="bg1"/>
                </a:solidFill>
              </a:rPr>
              <a:t>.</a:t>
            </a:r>
            <a:endParaRPr lang="en-US">
              <a:solidFill>
                <a:schemeClr val="bg1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</a:rPr>
              <a:t> </a:t>
            </a:r>
            <a:r>
              <a:rPr lang="en-US" sz="1600" err="1">
                <a:solidFill>
                  <a:schemeClr val="bg1"/>
                </a:solidFill>
              </a:rPr>
              <a:t>Ofron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transmetim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të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shpejtë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të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të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dhënave</a:t>
            </a:r>
            <a:r>
              <a:rPr lang="en-US" sz="1600">
                <a:solidFill>
                  <a:schemeClr val="bg1"/>
                </a:solidFill>
              </a:rPr>
              <a:t>.</a:t>
            </a:r>
            <a:endParaRPr lang="en-US">
              <a:solidFill>
                <a:schemeClr val="bg1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600" err="1">
                <a:solidFill>
                  <a:schemeClr val="bg1"/>
                </a:solidFill>
              </a:rPr>
              <a:t>Transmetim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në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distanca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të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largëta</a:t>
            </a:r>
            <a:r>
              <a:rPr lang="en-US" sz="1600">
                <a:solidFill>
                  <a:schemeClr val="bg1"/>
                </a:solidFill>
              </a:rPr>
              <a:t>. </a:t>
            </a:r>
            <a:endParaRPr lang="en-US">
              <a:solidFill>
                <a:schemeClr val="bg1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600" err="1">
                <a:solidFill>
                  <a:schemeClr val="bg1"/>
                </a:solidFill>
              </a:rPr>
              <a:t>Ofron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kapacitet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të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lartë</a:t>
            </a:r>
            <a:r>
              <a:rPr lang="en-US" sz="1600">
                <a:solidFill>
                  <a:schemeClr val="bg1"/>
                </a:solidFill>
              </a:rPr>
              <a:t>, bandwidth </a:t>
            </a:r>
            <a:r>
              <a:rPr lang="en-US" sz="1600" err="1">
                <a:solidFill>
                  <a:schemeClr val="bg1"/>
                </a:solidFill>
              </a:rPr>
              <a:t>dhe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shmangie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të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ndërhyrjes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elektromagnetike</a:t>
            </a:r>
            <a:r>
              <a:rPr lang="en-US" sz="1600">
                <a:solidFill>
                  <a:schemeClr val="bg1"/>
                </a:solidFill>
              </a:rPr>
              <a:t>.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2F95F2FB-12BD-430F-8E5C-F482664AA5AA}"/>
              </a:ext>
            </a:extLst>
          </p:cNvPr>
          <p:cNvSpPr txBox="1"/>
          <p:nvPr/>
        </p:nvSpPr>
        <p:spPr>
          <a:xfrm>
            <a:off x="7976220" y="3604446"/>
            <a:ext cx="367328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600" err="1">
                <a:solidFill>
                  <a:schemeClr val="bg1"/>
                </a:solidFill>
              </a:rPr>
              <a:t>Është</a:t>
            </a:r>
            <a:r>
              <a:rPr lang="en-US" sz="1600">
                <a:solidFill>
                  <a:schemeClr val="bg1"/>
                </a:solidFill>
              </a:rPr>
              <a:t> e </a:t>
            </a:r>
            <a:r>
              <a:rPr lang="en-US" sz="1600" err="1">
                <a:solidFill>
                  <a:schemeClr val="bg1"/>
                </a:solidFill>
              </a:rPr>
              <a:t>përberë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nga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fije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metalike,për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lidhjen</a:t>
            </a:r>
            <a:r>
              <a:rPr lang="en-US" sz="1600">
                <a:solidFill>
                  <a:schemeClr val="bg1"/>
                </a:solidFill>
              </a:rPr>
              <a:t> e </a:t>
            </a:r>
            <a:r>
              <a:rPr lang="en-US" sz="1600" err="1">
                <a:solidFill>
                  <a:schemeClr val="bg1"/>
                </a:solidFill>
              </a:rPr>
              <a:t>pajisjeve</a:t>
            </a:r>
            <a:r>
              <a:rPr lang="en-US" sz="1600">
                <a:solidFill>
                  <a:schemeClr val="bg1"/>
                </a:solidFill>
              </a:rPr>
              <a:t> TV.</a:t>
            </a:r>
          </a:p>
          <a:p>
            <a:pPr marL="171450" indent="-1714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</a:rPr>
              <a:t>E </a:t>
            </a:r>
            <a:r>
              <a:rPr lang="en-US" sz="1600" err="1">
                <a:solidFill>
                  <a:schemeClr val="bg1"/>
                </a:solidFill>
              </a:rPr>
              <a:t>përshtatshme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për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transmetimin</a:t>
            </a:r>
            <a:r>
              <a:rPr lang="en-US" sz="1600">
                <a:solidFill>
                  <a:schemeClr val="bg1"/>
                </a:solidFill>
              </a:rPr>
              <a:t> e </a:t>
            </a:r>
            <a:r>
              <a:rPr lang="en-US" sz="1600" err="1">
                <a:solidFill>
                  <a:schemeClr val="bg1"/>
                </a:solidFill>
              </a:rPr>
              <a:t>sinjaleve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të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dobëta</a:t>
            </a:r>
            <a:r>
              <a:rPr lang="en-US" sz="1600">
                <a:solidFill>
                  <a:schemeClr val="bg1"/>
                </a:solidFill>
              </a:rPr>
              <a:t> broadcast.</a:t>
            </a:r>
          </a:p>
          <a:p>
            <a:pPr marL="171450" indent="-171450">
              <a:buFont typeface="Arial"/>
              <a:buChar char="•"/>
            </a:pPr>
            <a:r>
              <a:rPr lang="en-US" sz="1600" err="1">
                <a:solidFill>
                  <a:schemeClr val="bg1"/>
                </a:solidFill>
              </a:rPr>
              <a:t>Për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implementim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për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arsye</a:t>
            </a:r>
            <a:r>
              <a:rPr lang="en-US" sz="1600">
                <a:solidFill>
                  <a:schemeClr val="bg1"/>
                </a:solidFill>
              </a:rPr>
              <a:t> se </a:t>
            </a:r>
            <a:r>
              <a:rPr lang="en-US" sz="1600" err="1">
                <a:solidFill>
                  <a:schemeClr val="bg1"/>
                </a:solidFill>
              </a:rPr>
              <a:t>ofron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mbrojtje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nga</a:t>
            </a:r>
            <a:r>
              <a:rPr lang="en-US" sz="1600">
                <a:solidFill>
                  <a:schemeClr val="bg1"/>
                </a:solidFill>
              </a:rPr>
              <a:t> interference </a:t>
            </a:r>
            <a:r>
              <a:rPr lang="en-US" sz="1600" err="1">
                <a:solidFill>
                  <a:schemeClr val="bg1"/>
                </a:solidFill>
              </a:rPr>
              <a:t>elektromagnetike</a:t>
            </a:r>
          </a:p>
          <a:p>
            <a:pPr marL="171450" indent="-171450">
              <a:buFont typeface="Arial"/>
              <a:buChar char="•"/>
            </a:pPr>
            <a:r>
              <a:rPr lang="en-US" sz="1600" err="1">
                <a:solidFill>
                  <a:schemeClr val="bg1"/>
                </a:solidFill>
              </a:rPr>
              <a:t>Është</a:t>
            </a:r>
            <a:r>
              <a:rPr lang="en-US" sz="1600">
                <a:solidFill>
                  <a:schemeClr val="bg1"/>
                </a:solidFill>
              </a:rPr>
              <a:t> e </a:t>
            </a:r>
            <a:r>
              <a:rPr lang="en-US" sz="1600" err="1">
                <a:solidFill>
                  <a:schemeClr val="bg1"/>
                </a:solidFill>
              </a:rPr>
              <a:t>mbështjellë</a:t>
            </a:r>
            <a:r>
              <a:rPr lang="en-US" sz="1600">
                <a:solidFill>
                  <a:schemeClr val="bg1"/>
                </a:solidFill>
              </a:rPr>
              <a:t> mire me material </a:t>
            </a:r>
            <a:r>
              <a:rPr lang="en-US" sz="1600" err="1">
                <a:solidFill>
                  <a:schemeClr val="bg1"/>
                </a:solidFill>
              </a:rPr>
              <a:t>plastike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dhe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metalike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756E0598-B5CB-4AB2-BC40-D046A80319EE}"/>
              </a:ext>
            </a:extLst>
          </p:cNvPr>
          <p:cNvSpPr txBox="1"/>
          <p:nvPr/>
        </p:nvSpPr>
        <p:spPr>
          <a:xfrm>
            <a:off x="8288504" y="3306115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 </a:t>
            </a:r>
            <a:r>
              <a:rPr lang="en-US" sz="1400" b="1" err="1">
                <a:solidFill>
                  <a:schemeClr val="bg1"/>
                </a:solidFill>
              </a:rPr>
              <a:t>Kabllo</a:t>
            </a:r>
            <a:r>
              <a:rPr lang="en-US" sz="1400" b="1">
                <a:solidFill>
                  <a:schemeClr val="bg1"/>
                </a:solidFill>
              </a:rPr>
              <a:t> </a:t>
            </a:r>
            <a:r>
              <a:rPr lang="en-US" sz="1400" b="1" err="1">
                <a:solidFill>
                  <a:schemeClr val="bg1"/>
                </a:solidFill>
              </a:rPr>
              <a:t>koaksiale</a:t>
            </a:r>
            <a:endParaRPr lang="en-US" sz="1400" err="1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0553D1C2-424A-4046-9745-0E99EA8F59DF}"/>
              </a:ext>
            </a:extLst>
          </p:cNvPr>
          <p:cNvSpPr txBox="1"/>
          <p:nvPr/>
        </p:nvSpPr>
        <p:spPr>
          <a:xfrm>
            <a:off x="4724400" y="3301253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 Fiber Optical Cable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FFC5E4D6-99F9-4B40-B7F0-8DF21C747DEB}"/>
              </a:ext>
            </a:extLst>
          </p:cNvPr>
          <p:cNvSpPr txBox="1"/>
          <p:nvPr/>
        </p:nvSpPr>
        <p:spPr>
          <a:xfrm>
            <a:off x="948651" y="3298082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err="1">
                <a:solidFill>
                  <a:schemeClr val="bg1"/>
                </a:solidFill>
              </a:rPr>
              <a:t>Kabllo</a:t>
            </a:r>
            <a:r>
              <a:rPr lang="en-US" sz="1400" b="1">
                <a:solidFill>
                  <a:schemeClr val="bg1"/>
                </a:solidFill>
              </a:rPr>
              <a:t> UTP </a:t>
            </a:r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063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8E7734C9-BD58-40A4-B2DE-64D254703946}"/>
              </a:ext>
            </a:extLst>
          </p:cNvPr>
          <p:cNvSpPr txBox="1"/>
          <p:nvPr/>
        </p:nvSpPr>
        <p:spPr>
          <a:xfrm>
            <a:off x="454325" y="425571"/>
            <a:ext cx="589184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b="1" err="1"/>
              <a:t>Serverët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F308787-4C8A-4BFB-AC59-F134FB49E61E}"/>
              </a:ext>
            </a:extLst>
          </p:cNvPr>
          <p:cNvSpPr txBox="1"/>
          <p:nvPr/>
        </p:nvSpPr>
        <p:spPr>
          <a:xfrm>
            <a:off x="1230702" y="971910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Tech Specs &amp; Customization</a:t>
            </a:r>
            <a:endParaRPr lang="en-US" sz="120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EE711F7-FFCC-4134-9C1E-00175CBC1D0E}"/>
              </a:ext>
            </a:extLst>
          </p:cNvPr>
          <p:cNvSpPr txBox="1"/>
          <p:nvPr/>
        </p:nvSpPr>
        <p:spPr>
          <a:xfrm>
            <a:off x="209910" y="1446362"/>
            <a:ext cx="3600344" cy="50475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/>
              <a:t>Processor:</a:t>
            </a:r>
            <a:r>
              <a:rPr lang="en-US" sz="1400" dirty="0" err="1"/>
              <a:t>Up</a:t>
            </a:r>
            <a:r>
              <a:rPr lang="en-US" sz="1400" dirty="0"/>
              <a:t> to four Intel® Xeon® Scalable processors, up to 28 cores each</a:t>
            </a:r>
          </a:p>
          <a:p>
            <a:pPr marL="285750" indent="-285750">
              <a:buFont typeface="Arial"/>
              <a:buChar char="•"/>
            </a:pPr>
            <a:r>
              <a:rPr lang="en-US" sz="1400" b="1" dirty="0"/>
              <a:t>Bezel :</a:t>
            </a:r>
            <a:r>
              <a:rPr lang="en-US" sz="1400" dirty="0"/>
              <a:t>Optional LCD bezel or security bezel</a:t>
            </a:r>
          </a:p>
          <a:p>
            <a:pPr marL="285750" indent="-285750">
              <a:buFont typeface="Arial"/>
              <a:buChar char="•"/>
            </a:pPr>
            <a:r>
              <a:rPr lang="en-US" sz="1400" b="1" dirty="0" err="1"/>
              <a:t>Dimensions:</a:t>
            </a:r>
            <a:r>
              <a:rPr lang="en-US" sz="1400" dirty="0" err="1"/>
              <a:t>Form</a:t>
            </a:r>
            <a:r>
              <a:rPr lang="en-US" sz="1400" dirty="0"/>
              <a:t> factor: Rack (4U) Chassis length: 482mm Chassis weight: 56kg Chassis depth: 812mm</a:t>
            </a:r>
          </a:p>
          <a:p>
            <a:pPr marL="285750" indent="-285750">
              <a:buFont typeface="Arial"/>
              <a:buChar char="•"/>
            </a:pPr>
            <a:r>
              <a:rPr lang="en-US" sz="1400" b="1" dirty="0"/>
              <a:t>Drive Bays:</a:t>
            </a:r>
            <a:r>
              <a:rPr lang="en-US" sz="1400" dirty="0"/>
              <a:t> Front drive bays:</a:t>
            </a:r>
            <a:r>
              <a:rPr lang="en-US" sz="1400" b="1" dirty="0"/>
              <a:t> </a:t>
            </a:r>
            <a:r>
              <a:rPr lang="en-US" sz="1400" dirty="0"/>
              <a:t>Up to 8 2.5” SAS SATA (HDD/SSD) max 30TB, or up 24 2.5” SAS/SATA (HDD/SSD) max 92TB, or up to 32 SAS/SATA (HDD/SSD) with up to 4 NVME PCIe SSD max 132TB</a:t>
            </a:r>
            <a:endParaRPr lang="en-US" sz="1400" b="1" dirty="0"/>
          </a:p>
          <a:p>
            <a:pPr marL="285750" indent="-285750">
              <a:buFont typeface="Arial"/>
              <a:buChar char="•"/>
            </a:pPr>
            <a:r>
              <a:rPr lang="en-US" sz="1400" b="1" dirty="0"/>
              <a:t>GPU  </a:t>
            </a:r>
            <a:r>
              <a:rPr lang="en-US" sz="1400" b="1" dirty="0" err="1"/>
              <a:t>Accelerators:</a:t>
            </a:r>
            <a:r>
              <a:rPr lang="en-US" sz="1400" dirty="0" err="1"/>
              <a:t>Up</a:t>
            </a:r>
            <a:r>
              <a:rPr lang="en-US" sz="1400" dirty="0"/>
              <a:t> to 4 doublewide GPUs or up to 8 full-height FPGAs</a:t>
            </a:r>
            <a:endParaRPr lang="en-US" sz="1400" b="1" dirty="0"/>
          </a:p>
          <a:p>
            <a:pPr marL="285750" indent="-285750">
              <a:buFont typeface="Arial"/>
              <a:buChar char="•"/>
            </a:pPr>
            <a:r>
              <a:rPr lang="en-US" sz="1400" b="1" dirty="0" err="1"/>
              <a:t>GPU:</a:t>
            </a:r>
            <a:r>
              <a:rPr lang="en-US" sz="1400" dirty="0" err="1"/>
              <a:t>Nvidia</a:t>
            </a:r>
            <a:r>
              <a:rPr lang="en-US" sz="1400" dirty="0"/>
              <a:t> Tesla P100, P40, V100</a:t>
            </a:r>
            <a:endParaRPr lang="en-US" sz="1400" b="1" dirty="0"/>
          </a:p>
          <a:p>
            <a:pPr marL="285750" indent="-285750">
              <a:buFont typeface="Arial"/>
              <a:buChar char="•"/>
            </a:pPr>
            <a:r>
              <a:rPr lang="en-US" sz="1400" b="1" dirty="0"/>
              <a:t>I/O and </a:t>
            </a:r>
            <a:r>
              <a:rPr lang="en-US" sz="1400" b="1" dirty="0" err="1"/>
              <a:t>PortsNetwork</a:t>
            </a:r>
            <a:r>
              <a:rPr lang="en-US" sz="1400" b="1" dirty="0"/>
              <a:t> Daughter Card Options:</a:t>
            </a:r>
            <a:r>
              <a:rPr lang="en-US" sz="1400" dirty="0"/>
              <a:t>4 x 1GE, 4 x 10GE, 2 x 10GE + 2 x 1GE, or 2 x 25GE</a:t>
            </a:r>
            <a:endParaRPr lang="en-US" sz="1400" b="1" dirty="0"/>
          </a:p>
          <a:p>
            <a:pPr marL="285750" indent="-285750">
              <a:buFont typeface="Arial"/>
              <a:buChar char="•"/>
            </a:pPr>
            <a:r>
              <a:rPr lang="en-US" sz="1400" b="1" dirty="0"/>
              <a:t>Front </a:t>
            </a:r>
            <a:r>
              <a:rPr lang="en-US" sz="1400" b="1" dirty="0" err="1"/>
              <a:t>ports:</a:t>
            </a:r>
            <a:r>
              <a:rPr lang="en-US" sz="1400" dirty="0" err="1"/>
              <a:t>Video</a:t>
            </a:r>
            <a:r>
              <a:rPr lang="en-US" sz="1400" dirty="0"/>
              <a:t>, 2 x USB 2.0, 1 , dedicated IDRAC Direct Micro-USB(Optional 1 x USB 3.0 only offered on the 8-drive configuration)</a:t>
            </a:r>
            <a:endParaRPr lang="en-US" sz="1400" b="1" dirty="0"/>
          </a:p>
          <a:p>
            <a:pPr marL="285750" indent="-285750">
              <a:buFont typeface="Arial"/>
              <a:buChar char="•"/>
            </a:pPr>
            <a:r>
              <a:rPr lang="en-US" sz="1400" b="1" dirty="0"/>
              <a:t>Rear </a:t>
            </a:r>
            <a:r>
              <a:rPr lang="en-US" sz="1400" b="1" dirty="0" err="1"/>
              <a:t>ports:</a:t>
            </a:r>
            <a:r>
              <a:rPr lang="en-US" sz="1400" dirty="0" err="1"/>
              <a:t>Video</a:t>
            </a:r>
            <a:r>
              <a:rPr lang="en-US" sz="1400" dirty="0"/>
              <a:t>, serial, 2 x USB 3.0</a:t>
            </a:r>
            <a:endParaRPr lang="en-US" sz="1400" b="1" dirty="0"/>
          </a:p>
          <a:p>
            <a:pPr marL="285750" indent="-285750">
              <a:buFont typeface="Arial"/>
              <a:buChar char="•"/>
            </a:pPr>
            <a:r>
              <a:rPr lang="en-US" sz="1400" b="1" dirty="0"/>
              <a:t>Internal ports:</a:t>
            </a:r>
            <a:r>
              <a:rPr lang="en-US" sz="1400" dirty="0"/>
              <a:t>1 x USB 3.0</a:t>
            </a:r>
            <a:endParaRPr lang="en-US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DC303D9-31F9-4659-9E21-45BF44F3BA4B}"/>
              </a:ext>
            </a:extLst>
          </p:cNvPr>
          <p:cNvSpPr txBox="1"/>
          <p:nvPr/>
        </p:nvSpPr>
        <p:spPr>
          <a:xfrm>
            <a:off x="3973606" y="1340223"/>
            <a:ext cx="4199966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Video </a:t>
            </a:r>
            <a:r>
              <a:rPr lang="en-US" sz="1400" b="1" dirty="0" err="1">
                <a:ea typeface="+mn-lt"/>
                <a:cs typeface="+mn-lt"/>
              </a:rPr>
              <a:t>card:</a:t>
            </a:r>
            <a:r>
              <a:rPr lang="en-US" sz="1400" dirty="0" err="1">
                <a:ea typeface="+mn-lt"/>
                <a:cs typeface="+mn-lt"/>
              </a:rPr>
              <a:t>VGA</a:t>
            </a:r>
            <a:endParaRPr lang="en-US" sz="14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 err="1">
                <a:ea typeface="+mn-lt"/>
                <a:cs typeface="+mn-lt"/>
              </a:rPr>
              <a:t>PCIe:</a:t>
            </a:r>
            <a:r>
              <a:rPr lang="en-US" sz="1400" dirty="0" err="1">
                <a:ea typeface="+mn-lt"/>
                <a:cs typeface="+mn-lt"/>
              </a:rPr>
              <a:t>Up</a:t>
            </a:r>
            <a:r>
              <a:rPr lang="en-US" sz="1400" dirty="0">
                <a:ea typeface="+mn-lt"/>
                <a:cs typeface="+mn-lt"/>
              </a:rPr>
              <a:t> to 12 Gen3 slots, (6 x 16 slots or 2 x 16 + 10 x 8 slots)</a:t>
            </a: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Memory*</a:t>
            </a:r>
            <a:r>
              <a:rPr lang="en-US" sz="1400" dirty="0">
                <a:ea typeface="+mn-lt"/>
                <a:cs typeface="+mn-lt"/>
              </a:rPr>
              <a:t>48 DDR4 DIMM slots, supports RDIMM/LRDIMM, up to 2666MT/s, 6TB </a:t>
            </a:r>
            <a:r>
              <a:rPr lang="en-US" sz="1400" dirty="0" err="1">
                <a:ea typeface="+mn-lt"/>
                <a:cs typeface="+mn-lt"/>
              </a:rPr>
              <a:t>maxUp</a:t>
            </a:r>
            <a:r>
              <a:rPr lang="en-US" sz="1400" dirty="0">
                <a:ea typeface="+mn-lt"/>
                <a:cs typeface="+mn-lt"/>
              </a:rPr>
              <a:t> to 12 NVDIMMs, 384GB </a:t>
            </a:r>
            <a:r>
              <a:rPr lang="en-US" sz="1400" dirty="0" err="1">
                <a:ea typeface="+mn-lt"/>
                <a:cs typeface="+mn-lt"/>
              </a:rPr>
              <a:t>MaxSupports</a:t>
            </a:r>
            <a:r>
              <a:rPr lang="en-US" sz="1400" dirty="0">
                <a:ea typeface="+mn-lt"/>
                <a:cs typeface="+mn-lt"/>
              </a:rPr>
              <a:t> registered ECC DDR4 DIMMs only</a:t>
            </a:r>
          </a:p>
          <a:p>
            <a:pPr marL="285750" indent="-285750">
              <a:buFont typeface="Arial"/>
              <a:buChar char="•"/>
            </a:pPr>
            <a:r>
              <a:rPr lang="en-US" sz="1400" b="1" dirty="0" err="1">
                <a:ea typeface="+mn-lt"/>
                <a:cs typeface="+mn-lt"/>
              </a:rPr>
              <a:t>ManagementEmbedded</a:t>
            </a:r>
            <a:r>
              <a:rPr lang="en-US" sz="1400" b="1" dirty="0">
                <a:ea typeface="+mn-lt"/>
                <a:cs typeface="+mn-lt"/>
              </a:rPr>
              <a:t> / At-the-Server:</a:t>
            </a:r>
            <a:r>
              <a:rPr lang="en-US" sz="1400" dirty="0">
                <a:ea typeface="+mn-lt"/>
                <a:cs typeface="+mn-lt"/>
              </a:rPr>
              <a:t>iDRAC9 with Lifecycle </a:t>
            </a:r>
            <a:r>
              <a:rPr lang="en-US" sz="1400" dirty="0" err="1">
                <a:ea typeface="+mn-lt"/>
                <a:cs typeface="+mn-lt"/>
              </a:rPr>
              <a:t>ControlleriDRAC</a:t>
            </a:r>
            <a:r>
              <a:rPr lang="en-US" sz="1400" dirty="0">
                <a:ea typeface="+mn-lt"/>
                <a:cs typeface="+mn-lt"/>
              </a:rPr>
              <a:t> </a:t>
            </a:r>
            <a:r>
              <a:rPr lang="en-US" sz="1400" dirty="0" err="1">
                <a:ea typeface="+mn-lt"/>
                <a:cs typeface="+mn-lt"/>
              </a:rPr>
              <a:t>DirectiDRAC</a:t>
            </a:r>
            <a:r>
              <a:rPr lang="en-US" sz="1400" dirty="0">
                <a:ea typeface="+mn-lt"/>
                <a:cs typeface="+mn-lt"/>
              </a:rPr>
              <a:t> RESTful API with </a:t>
            </a:r>
            <a:r>
              <a:rPr lang="en-US" sz="1400" dirty="0" err="1">
                <a:ea typeface="+mn-lt"/>
                <a:cs typeface="+mn-lt"/>
              </a:rPr>
              <a:t>RedfishQuick</a:t>
            </a:r>
            <a:r>
              <a:rPr lang="en-US" sz="1400" dirty="0">
                <a:ea typeface="+mn-lt"/>
                <a:cs typeface="+mn-lt"/>
              </a:rPr>
              <a:t> Sync 2 BLE/wireless module</a:t>
            </a:r>
          </a:p>
          <a:p>
            <a:pPr marL="285750" indent="-285750">
              <a:buFont typeface="Arial"/>
              <a:buChar char="•"/>
            </a:pPr>
            <a:r>
              <a:rPr lang="en-US" sz="1400" b="1" dirty="0" err="1">
                <a:ea typeface="+mn-lt"/>
                <a:cs typeface="+mn-lt"/>
              </a:rPr>
              <a:t>Consoles:</a:t>
            </a:r>
            <a:r>
              <a:rPr lang="en-US" sz="1400" dirty="0" err="1">
                <a:ea typeface="+mn-lt"/>
                <a:cs typeface="+mn-lt"/>
              </a:rPr>
              <a:t>OpenManage</a:t>
            </a:r>
            <a:r>
              <a:rPr lang="en-US" sz="1400" dirty="0">
                <a:ea typeface="+mn-lt"/>
                <a:cs typeface="+mn-lt"/>
              </a:rPr>
              <a:t> </a:t>
            </a:r>
            <a:r>
              <a:rPr lang="en-US" sz="1400" dirty="0" err="1">
                <a:ea typeface="+mn-lt"/>
                <a:cs typeface="+mn-lt"/>
              </a:rPr>
              <a:t>EnterpriseOpenManage</a:t>
            </a:r>
            <a:r>
              <a:rPr lang="en-US" sz="1400" dirty="0">
                <a:ea typeface="+mn-lt"/>
                <a:cs typeface="+mn-lt"/>
              </a:rPr>
              <a:t> </a:t>
            </a:r>
            <a:r>
              <a:rPr lang="en-US" sz="1400" dirty="0" err="1">
                <a:ea typeface="+mn-lt"/>
                <a:cs typeface="+mn-lt"/>
              </a:rPr>
              <a:t>EssentialsOpenManage</a:t>
            </a:r>
            <a:r>
              <a:rPr lang="en-US" sz="1400" dirty="0">
                <a:ea typeface="+mn-lt"/>
                <a:cs typeface="+mn-lt"/>
              </a:rPr>
              <a:t> Power Center</a:t>
            </a:r>
          </a:p>
          <a:p>
            <a:pPr marL="285750" indent="-285750">
              <a:buFont typeface="Arial"/>
              <a:buChar char="•"/>
            </a:pPr>
            <a:r>
              <a:rPr lang="en-US" sz="1400" b="1" dirty="0" err="1">
                <a:ea typeface="+mn-lt"/>
                <a:cs typeface="+mn-lt"/>
              </a:rPr>
              <a:t>Mobility:</a:t>
            </a:r>
            <a:r>
              <a:rPr lang="en-US" sz="1400" dirty="0" err="1">
                <a:ea typeface="+mn-lt"/>
                <a:cs typeface="+mn-lt"/>
              </a:rPr>
              <a:t>OpenManage</a:t>
            </a:r>
            <a:r>
              <a:rPr lang="en-US" sz="1400" dirty="0">
                <a:ea typeface="+mn-lt"/>
                <a:cs typeface="+mn-lt"/>
              </a:rPr>
              <a:t> </a:t>
            </a:r>
            <a:r>
              <a:rPr lang="en-US" sz="1400" dirty="0" err="1">
                <a:ea typeface="+mn-lt"/>
                <a:cs typeface="+mn-lt"/>
              </a:rPr>
              <a:t>Mobie</a:t>
            </a:r>
            <a:endParaRPr lang="en-US" dirty="0" err="1"/>
          </a:p>
          <a:p>
            <a:pPr marL="285750" indent="-285750">
              <a:buFont typeface="Arial"/>
              <a:buChar char="•"/>
            </a:pPr>
            <a:r>
              <a:rPr lang="en-US" sz="1400" b="1" dirty="0" err="1">
                <a:ea typeface="+mn-lt"/>
                <a:cs typeface="+mn-lt"/>
              </a:rPr>
              <a:t>Tools:</a:t>
            </a:r>
            <a:r>
              <a:rPr lang="en-US" sz="1400" dirty="0" err="1">
                <a:ea typeface="+mn-lt"/>
                <a:cs typeface="+mn-lt"/>
              </a:rPr>
              <a:t>iDRAC</a:t>
            </a:r>
            <a:r>
              <a:rPr lang="en-US" sz="1400" dirty="0">
                <a:ea typeface="+mn-lt"/>
                <a:cs typeface="+mn-lt"/>
              </a:rPr>
              <a:t> Service </a:t>
            </a:r>
            <a:r>
              <a:rPr lang="en-US" sz="1400" dirty="0" err="1">
                <a:ea typeface="+mn-lt"/>
                <a:cs typeface="+mn-lt"/>
              </a:rPr>
              <a:t>ModuleOpenManage</a:t>
            </a:r>
            <a:r>
              <a:rPr lang="en-US" sz="1400" dirty="0">
                <a:ea typeface="+mn-lt"/>
                <a:cs typeface="+mn-lt"/>
              </a:rPr>
              <a:t> Server </a:t>
            </a:r>
            <a:r>
              <a:rPr lang="en-US" sz="1400" dirty="0" err="1">
                <a:ea typeface="+mn-lt"/>
                <a:cs typeface="+mn-lt"/>
              </a:rPr>
              <a:t>AdministratorOpenManage</a:t>
            </a:r>
            <a:r>
              <a:rPr lang="en-US" sz="1400" dirty="0">
                <a:ea typeface="+mn-lt"/>
                <a:cs typeface="+mn-lt"/>
              </a:rPr>
              <a:t> Storage </a:t>
            </a:r>
            <a:r>
              <a:rPr lang="en-US" sz="1400" dirty="0" err="1">
                <a:ea typeface="+mn-lt"/>
                <a:cs typeface="+mn-lt"/>
              </a:rPr>
              <a:t>ServicesDell</a:t>
            </a:r>
            <a:r>
              <a:rPr lang="en-US" sz="1400" dirty="0">
                <a:ea typeface="+mn-lt"/>
                <a:cs typeface="+mn-lt"/>
              </a:rPr>
              <a:t> EMC Repository </a:t>
            </a:r>
            <a:r>
              <a:rPr lang="en-US" sz="1400" dirty="0" err="1">
                <a:ea typeface="+mn-lt"/>
                <a:cs typeface="+mn-lt"/>
              </a:rPr>
              <a:t>ManagerDell</a:t>
            </a:r>
            <a:r>
              <a:rPr lang="en-US" sz="1400" dirty="0">
                <a:ea typeface="+mn-lt"/>
                <a:cs typeface="+mn-lt"/>
              </a:rPr>
              <a:t> EMC System </a:t>
            </a:r>
            <a:r>
              <a:rPr lang="en-US" sz="1400" dirty="0" err="1">
                <a:ea typeface="+mn-lt"/>
                <a:cs typeface="+mn-lt"/>
              </a:rPr>
              <a:t>UpdateDell</a:t>
            </a:r>
            <a:r>
              <a:rPr lang="en-US" sz="1400" dirty="0">
                <a:ea typeface="+mn-lt"/>
                <a:cs typeface="+mn-lt"/>
              </a:rPr>
              <a:t> EMC Server Update </a:t>
            </a:r>
            <a:r>
              <a:rPr lang="en-US" sz="1400" dirty="0" err="1">
                <a:ea typeface="+mn-lt"/>
                <a:cs typeface="+mn-lt"/>
              </a:rPr>
              <a:t>UtilityDell</a:t>
            </a:r>
            <a:r>
              <a:rPr lang="en-US" sz="1400" dirty="0">
                <a:ea typeface="+mn-lt"/>
                <a:cs typeface="+mn-lt"/>
              </a:rPr>
              <a:t> EMC Update Catalogs</a:t>
            </a:r>
          </a:p>
          <a:p>
            <a:pPr marL="285750" indent="-285750">
              <a:buFont typeface="Arial"/>
              <a:buChar char="•"/>
            </a:pPr>
            <a:r>
              <a:rPr lang="en-US" sz="1400" b="1" dirty="0" err="1">
                <a:ea typeface="+mn-lt"/>
                <a:cs typeface="+mn-lt"/>
              </a:rPr>
              <a:t>OpenManage</a:t>
            </a:r>
            <a:r>
              <a:rPr lang="en-US" sz="1400" b="1" dirty="0">
                <a:ea typeface="+mn-lt"/>
                <a:cs typeface="+mn-lt"/>
              </a:rPr>
              <a:t> </a:t>
            </a:r>
            <a:r>
              <a:rPr lang="en-US" sz="1400" b="1" dirty="0" err="1">
                <a:ea typeface="+mn-lt"/>
                <a:cs typeface="+mn-lt"/>
              </a:rPr>
              <a:t>Integrations:</a:t>
            </a:r>
            <a:r>
              <a:rPr lang="en-US" sz="1400" dirty="0" err="1">
                <a:ea typeface="+mn-lt"/>
                <a:cs typeface="+mn-lt"/>
              </a:rPr>
              <a:t>Microsoft</a:t>
            </a:r>
            <a:r>
              <a:rPr lang="en-US" sz="1400" dirty="0">
                <a:ea typeface="+mn-lt"/>
                <a:cs typeface="+mn-lt"/>
              </a:rPr>
              <a:t>® System </a:t>
            </a:r>
            <a:r>
              <a:rPr lang="en-US" sz="1400" dirty="0" err="1">
                <a:ea typeface="+mn-lt"/>
                <a:cs typeface="+mn-lt"/>
              </a:rPr>
              <a:t>CenterVMware</a:t>
            </a:r>
            <a:r>
              <a:rPr lang="en-US" sz="1400" dirty="0">
                <a:ea typeface="+mn-lt"/>
                <a:cs typeface="+mn-lt"/>
              </a:rPr>
              <a:t>® </a:t>
            </a:r>
            <a:r>
              <a:rPr lang="en-US" sz="1400" dirty="0" err="1">
                <a:ea typeface="+mn-lt"/>
                <a:cs typeface="+mn-lt"/>
              </a:rPr>
              <a:t>vCenter™BMC</a:t>
            </a:r>
            <a:r>
              <a:rPr lang="en-US" sz="1400" dirty="0">
                <a:ea typeface="+mn-lt"/>
                <a:cs typeface="+mn-lt"/>
              </a:rPr>
              <a:t> software (available from BMC)Ansible by RedHat</a:t>
            </a:r>
          </a:p>
          <a:p>
            <a:pPr marL="285750" indent="-285750">
              <a:buFont typeface="Arial"/>
              <a:buChar char="•"/>
            </a:pP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514A68BB-105F-4459-856D-0D2D599C739F}"/>
              </a:ext>
            </a:extLst>
          </p:cNvPr>
          <p:cNvSpPr txBox="1"/>
          <p:nvPr/>
        </p:nvSpPr>
        <p:spPr>
          <a:xfrm>
            <a:off x="8164606" y="1407458"/>
            <a:ext cx="3874993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Char char="•"/>
            </a:pPr>
            <a:r>
              <a:rPr lang="en-US" sz="1400" b="1" dirty="0" err="1">
                <a:cs typeface="Arial"/>
              </a:rPr>
              <a:t>OpenManage</a:t>
            </a:r>
            <a:r>
              <a:rPr lang="en-US" sz="1400" b="1" dirty="0">
                <a:cs typeface="Arial"/>
              </a:rPr>
              <a:t> </a:t>
            </a:r>
            <a:r>
              <a:rPr lang="en-US" sz="1400" b="1" dirty="0" err="1">
                <a:cs typeface="Arial"/>
              </a:rPr>
              <a:t>Connections:</a:t>
            </a:r>
            <a:r>
              <a:rPr lang="en-US" sz="1400" dirty="0" err="1">
                <a:cs typeface="Arial"/>
              </a:rPr>
              <a:t>Nagios</a:t>
            </a:r>
            <a:r>
              <a:rPr lang="en-US" sz="1400" dirty="0">
                <a:cs typeface="Arial"/>
              </a:rPr>
              <a:t> Core &amp; Nagios </a:t>
            </a:r>
            <a:r>
              <a:rPr lang="en-US" sz="1400" dirty="0" err="1">
                <a:cs typeface="Arial"/>
              </a:rPr>
              <a:t>XIOracle</a:t>
            </a:r>
            <a:r>
              <a:rPr lang="en-US" sz="1400" dirty="0">
                <a:cs typeface="Arial"/>
              </a:rPr>
              <a:t> Enterprise </a:t>
            </a:r>
            <a:r>
              <a:rPr lang="en-US" sz="1400" dirty="0" err="1">
                <a:cs typeface="Arial"/>
              </a:rPr>
              <a:t>ManagerMicroFocus</a:t>
            </a:r>
            <a:r>
              <a:rPr lang="en-US" sz="1400" dirty="0">
                <a:cs typeface="Arial"/>
              </a:rPr>
              <a:t> (formerly HPE Software) Operations Manager </a:t>
            </a:r>
            <a:r>
              <a:rPr lang="en-US" sz="1400" dirty="0" err="1">
                <a:cs typeface="Arial"/>
              </a:rPr>
              <a:t>i</a:t>
            </a:r>
            <a:r>
              <a:rPr lang="en-US" sz="1400" dirty="0">
                <a:cs typeface="Arial"/>
              </a:rPr>
              <a:t> (</a:t>
            </a:r>
            <a:r>
              <a:rPr lang="en-US" sz="1400" dirty="0" err="1">
                <a:cs typeface="Arial"/>
              </a:rPr>
              <a:t>OMi</a:t>
            </a:r>
            <a:r>
              <a:rPr lang="en-US" sz="1400" dirty="0">
                <a:cs typeface="Arial"/>
              </a:rPr>
              <a:t>)IBM Tivoli Netcool/Omnibus​</a:t>
            </a:r>
          </a:p>
          <a:p>
            <a:pPr>
              <a:buChar char="•"/>
            </a:pPr>
            <a:r>
              <a:rPr lang="en-US" sz="1400" b="1" dirty="0" err="1">
                <a:cs typeface="Arial"/>
              </a:rPr>
              <a:t>Power</a:t>
            </a:r>
            <a:r>
              <a:rPr lang="en-US" sz="1400" dirty="0" err="1">
                <a:cs typeface="Arial"/>
              </a:rPr>
              <a:t>Platinum</a:t>
            </a:r>
            <a:r>
              <a:rPr lang="en-US" sz="1400" dirty="0">
                <a:cs typeface="Arial"/>
              </a:rPr>
              <a:t>: 1100W, 1600W, 2000W, 2400WDC: 1100WMix Mode/HVDC: 1100W*Hot plug power supplies with full redundancy option6 hot plugs fans with N +1 redundancy</a:t>
            </a:r>
          </a:p>
          <a:p>
            <a:pPr>
              <a:buChar char="•"/>
            </a:pPr>
            <a:r>
              <a:rPr lang="en-US" sz="1400" b="1" dirty="0">
                <a:cs typeface="Arial"/>
              </a:rPr>
              <a:t>Regulatory</a:t>
            </a:r>
            <a:r>
              <a:rPr lang="en-US" sz="1400" dirty="0">
                <a:solidFill>
                  <a:srgbClr val="1155CC"/>
                </a:solidFill>
                <a:cs typeface="Arial"/>
                <a:hlinkClick r:id="rId2"/>
              </a:rPr>
              <a:t>Product</a:t>
            </a:r>
            <a:r>
              <a:rPr lang="en-US" sz="1400" dirty="0">
                <a:solidFill>
                  <a:srgbClr val="1155CC"/>
                </a:solidFill>
                <a:ea typeface="+mn-lt"/>
                <a:cs typeface="+mn-lt"/>
                <a:hlinkClick r:id="rId2"/>
              </a:rPr>
              <a:t> Safety, EMC and Environmental Datasheets</a:t>
            </a:r>
            <a:r>
              <a:rPr lang="en-US" sz="1400" dirty="0">
                <a:solidFill>
                  <a:srgbClr val="1155CC"/>
                </a:solidFill>
                <a:ea typeface="+mn-lt"/>
                <a:cs typeface="+mn-lt"/>
                <a:hlinkClick r:id="rId3"/>
              </a:rPr>
              <a:t>Dell Regulatory Compliance Home Page</a:t>
            </a:r>
            <a:r>
              <a:rPr lang="en-US" sz="1400" dirty="0">
                <a:solidFill>
                  <a:srgbClr val="1155CC"/>
                </a:solidFill>
                <a:ea typeface="+mn-lt"/>
                <a:cs typeface="+mn-lt"/>
                <a:hlinkClick r:id="rId4"/>
              </a:rPr>
              <a:t>Dell and the Environment</a:t>
            </a:r>
            <a:endParaRPr lang="en-US" sz="1400" dirty="0">
              <a:solidFill>
                <a:srgbClr val="FFFFFF"/>
              </a:solidFill>
              <a:ea typeface="+mn-lt"/>
              <a:cs typeface="+mn-lt"/>
            </a:endParaRPr>
          </a:p>
          <a:p>
            <a:pPr>
              <a:buChar char="•"/>
            </a:pPr>
            <a:r>
              <a:rPr lang="en-US" sz="1400" b="1" dirty="0">
                <a:ea typeface="+mn-lt"/>
                <a:cs typeface="+mn-lt"/>
              </a:rPr>
              <a:t>Supported Operating </a:t>
            </a:r>
            <a:r>
              <a:rPr lang="en-US" sz="1400" b="1" dirty="0" err="1">
                <a:ea typeface="+mn-lt"/>
                <a:cs typeface="+mn-lt"/>
              </a:rPr>
              <a:t>Systems</a:t>
            </a:r>
            <a:r>
              <a:rPr lang="en-US" sz="1400" dirty="0" err="1">
                <a:ea typeface="+mn-lt"/>
                <a:cs typeface="+mn-lt"/>
              </a:rPr>
              <a:t>Canonical</a:t>
            </a:r>
            <a:r>
              <a:rPr lang="en-US" sz="1400" dirty="0">
                <a:ea typeface="+mn-lt"/>
                <a:cs typeface="+mn-lt"/>
              </a:rPr>
              <a:t>® Ubuntu® </a:t>
            </a:r>
            <a:r>
              <a:rPr lang="en-US" sz="1400" dirty="0" err="1">
                <a:ea typeface="+mn-lt"/>
                <a:cs typeface="+mn-lt"/>
              </a:rPr>
              <a:t>LTSCitrix</a:t>
            </a:r>
            <a:r>
              <a:rPr lang="en-US" sz="1400" dirty="0">
                <a:ea typeface="+mn-lt"/>
                <a:cs typeface="+mn-lt"/>
              </a:rPr>
              <a:t>® </a:t>
            </a:r>
            <a:r>
              <a:rPr lang="en-US" sz="1400" dirty="0" err="1">
                <a:ea typeface="+mn-lt"/>
                <a:cs typeface="+mn-lt"/>
              </a:rPr>
              <a:t>XenServer®Microsoft</a:t>
            </a:r>
            <a:r>
              <a:rPr lang="en-US" sz="1400" dirty="0">
                <a:ea typeface="+mn-lt"/>
                <a:cs typeface="+mn-lt"/>
              </a:rPr>
              <a:t> Windows Server® with Hyper-</a:t>
            </a:r>
            <a:r>
              <a:rPr lang="en-US" sz="1400" dirty="0" err="1">
                <a:ea typeface="+mn-lt"/>
                <a:cs typeface="+mn-lt"/>
              </a:rPr>
              <a:t>VRed</a:t>
            </a:r>
            <a:r>
              <a:rPr lang="en-US" sz="1400" dirty="0">
                <a:ea typeface="+mn-lt"/>
                <a:cs typeface="+mn-lt"/>
              </a:rPr>
              <a:t> Hat® Enterprise </a:t>
            </a:r>
            <a:r>
              <a:rPr lang="en-US" sz="1400" dirty="0" err="1">
                <a:ea typeface="+mn-lt"/>
                <a:cs typeface="+mn-lt"/>
              </a:rPr>
              <a:t>LinuxSUSE</a:t>
            </a:r>
            <a:r>
              <a:rPr lang="en-US" sz="1400" dirty="0">
                <a:ea typeface="+mn-lt"/>
                <a:cs typeface="+mn-lt"/>
              </a:rPr>
              <a:t>® Linux Enterprise </a:t>
            </a:r>
            <a:r>
              <a:rPr lang="en-US" sz="1400" dirty="0" err="1">
                <a:ea typeface="+mn-lt"/>
                <a:cs typeface="+mn-lt"/>
              </a:rPr>
              <a:t>ServerVMware</a:t>
            </a:r>
            <a:r>
              <a:rPr lang="en-US" sz="1400" dirty="0">
                <a:ea typeface="+mn-lt"/>
                <a:cs typeface="+mn-lt"/>
              </a:rPr>
              <a:t>® </a:t>
            </a:r>
            <a:r>
              <a:rPr lang="en-US" sz="1400" dirty="0" err="1">
                <a:ea typeface="+mn-lt"/>
                <a:cs typeface="+mn-lt"/>
              </a:rPr>
              <a:t>ESXi</a:t>
            </a:r>
            <a:endParaRPr lang="en-US" sz="1400">
              <a:ea typeface="+mn-lt"/>
              <a:cs typeface="+mn-lt"/>
            </a:endParaRPr>
          </a:p>
          <a:p>
            <a:pPr>
              <a:buChar char="•"/>
            </a:pPr>
            <a:r>
              <a:rPr lang="en-US" sz="1400" b="1" dirty="0">
                <a:ea typeface="+mn-lt"/>
                <a:cs typeface="+mn-lt"/>
              </a:rPr>
              <a:t>Storage </a:t>
            </a:r>
            <a:r>
              <a:rPr lang="en-US" sz="1400" b="1" dirty="0" err="1">
                <a:ea typeface="+mn-lt"/>
                <a:cs typeface="+mn-lt"/>
              </a:rPr>
              <a:t>ControllersInternal</a:t>
            </a:r>
            <a:r>
              <a:rPr lang="en-US" sz="1400" b="1" dirty="0">
                <a:ea typeface="+mn-lt"/>
                <a:cs typeface="+mn-lt"/>
              </a:rPr>
              <a:t> </a:t>
            </a:r>
            <a:r>
              <a:rPr lang="en-US" sz="1400" b="1" dirty="0" err="1">
                <a:ea typeface="+mn-lt"/>
                <a:cs typeface="+mn-lt"/>
              </a:rPr>
              <a:t>Controllers:</a:t>
            </a:r>
            <a:r>
              <a:rPr lang="en-US" sz="1400" dirty="0" err="1">
                <a:ea typeface="+mn-lt"/>
                <a:cs typeface="+mn-lt"/>
              </a:rPr>
              <a:t>PERC</a:t>
            </a:r>
            <a:r>
              <a:rPr lang="en-US" sz="1400" dirty="0">
                <a:ea typeface="+mn-lt"/>
                <a:cs typeface="+mn-lt"/>
              </a:rPr>
              <a:t> H730P, H740P, H330, software RAID (SWRAID) S140</a:t>
            </a:r>
          </a:p>
          <a:p>
            <a:pPr>
              <a:buFontTx/>
              <a:buChar char="•"/>
            </a:pPr>
            <a:endParaRPr lang="en-US" sz="14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7850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4CE4270-FFDC-4786-8EC1-AB6FAA3B92D3}"/>
              </a:ext>
            </a:extLst>
          </p:cNvPr>
          <p:cNvSpPr txBox="1"/>
          <p:nvPr/>
        </p:nvSpPr>
        <p:spPr>
          <a:xfrm>
            <a:off x="299244" y="245005"/>
            <a:ext cx="857329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err="1">
                <a:latin typeface="Cambria"/>
                <a:ea typeface="Cambria"/>
              </a:rPr>
              <a:t>Topologjia</a:t>
            </a:r>
            <a:r>
              <a:rPr lang="en-US" sz="3200" b="1" dirty="0">
                <a:latin typeface="Cambria"/>
                <a:ea typeface="Cambria"/>
              </a:rPr>
              <a:t> </a:t>
            </a:r>
            <a:r>
              <a:rPr lang="en-US" sz="3200" b="1" err="1">
                <a:latin typeface="Cambria"/>
                <a:ea typeface="Cambria"/>
              </a:rPr>
              <a:t>fizike</a:t>
            </a:r>
            <a:r>
              <a:rPr lang="en-US" sz="3200" b="1" dirty="0">
                <a:latin typeface="Cambria"/>
                <a:ea typeface="Cambria"/>
              </a:rPr>
              <a:t> e </a:t>
            </a:r>
            <a:r>
              <a:rPr lang="en-US" sz="3200" b="1" err="1">
                <a:latin typeface="Cambria"/>
                <a:ea typeface="Cambria"/>
              </a:rPr>
              <a:t>rrjetës</a:t>
            </a:r>
            <a:r>
              <a:rPr lang="en-US" sz="3200" b="1" dirty="0">
                <a:latin typeface="Cambria"/>
                <a:ea typeface="Cambria"/>
              </a:rPr>
              <a:t> </a:t>
            </a:r>
            <a:r>
              <a:rPr lang="en-US" sz="3200" b="1" err="1">
                <a:latin typeface="Cambria"/>
                <a:ea typeface="Cambria"/>
              </a:rPr>
              <a:t>lokale</a:t>
            </a:r>
            <a:endParaRPr lang="en-US" sz="3200" err="1">
              <a:latin typeface="Cambria"/>
              <a:ea typeface="Cambri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3ECE13C-CE9A-44DE-9A82-B26DBA0508D5}"/>
              </a:ext>
            </a:extLst>
          </p:cNvPr>
          <p:cNvSpPr txBox="1"/>
          <p:nvPr/>
        </p:nvSpPr>
        <p:spPr>
          <a:xfrm>
            <a:off x="390525" y="1450181"/>
            <a:ext cx="5064918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/>
              <a:t>1.</a:t>
            </a:r>
            <a:r>
              <a:rPr lang="en-US" dirty="0"/>
              <a:t> </a:t>
            </a:r>
            <a:r>
              <a:rPr lang="en-US" sz="3600" dirty="0" err="1"/>
              <a:t>Planin</a:t>
            </a:r>
            <a:r>
              <a:rPr lang="en-US" sz="3600" dirty="0"/>
              <a:t> e </a:t>
            </a:r>
            <a:r>
              <a:rPr lang="en-US" sz="3600" dirty="0" err="1"/>
              <a:t>kabllimit</a:t>
            </a:r>
            <a:r>
              <a:rPr lang="en-US" sz="3600" dirty="0"/>
              <a:t> </a:t>
            </a:r>
            <a:r>
              <a:rPr lang="en-US" sz="3600" dirty="0" err="1"/>
              <a:t>horizonatal</a:t>
            </a:r>
            <a:r>
              <a:rPr lang="en-US" sz="3600" dirty="0"/>
              <a:t> </a:t>
            </a:r>
            <a:r>
              <a:rPr lang="en-US" sz="3600" dirty="0" err="1"/>
              <a:t>dhe</a:t>
            </a:r>
            <a:r>
              <a:rPr lang="en-US" sz="3600" dirty="0"/>
              <a:t> </a:t>
            </a:r>
            <a:r>
              <a:rPr lang="en-US" sz="3600" dirty="0" err="1"/>
              <a:t>vertikal</a:t>
            </a:r>
            <a:endParaRPr lang="en-US" sz="5400" dirty="0" err="1"/>
          </a:p>
          <a:p>
            <a:r>
              <a:rPr lang="en-US" sz="3600" dirty="0"/>
              <a:t>2.</a:t>
            </a:r>
            <a:r>
              <a:rPr lang="en-US" dirty="0"/>
              <a:t> </a:t>
            </a:r>
            <a:r>
              <a:rPr lang="en-US" sz="3600" dirty="0" err="1"/>
              <a:t>Planin</a:t>
            </a:r>
            <a:r>
              <a:rPr lang="en-US" sz="3600" dirty="0"/>
              <a:t> e </a:t>
            </a:r>
            <a:r>
              <a:rPr lang="en-US" sz="3600" dirty="0" err="1"/>
              <a:t>kabllimit</a:t>
            </a:r>
            <a:r>
              <a:rPr lang="en-US" sz="3600" dirty="0"/>
              <a:t> per </a:t>
            </a:r>
            <a:r>
              <a:rPr lang="en-US" sz="3600" dirty="0" err="1"/>
              <a:t>dhomën</a:t>
            </a:r>
            <a:r>
              <a:rPr lang="en-US" sz="3600" dirty="0"/>
              <a:t> e </a:t>
            </a:r>
            <a:r>
              <a:rPr lang="en-US" sz="3600" dirty="0" err="1"/>
              <a:t>serverëve</a:t>
            </a:r>
            <a:endParaRPr lang="en-US" sz="4000" dirty="0" err="1"/>
          </a:p>
          <a:p>
            <a:r>
              <a:rPr lang="en-US" sz="3600" dirty="0"/>
              <a:t>3.</a:t>
            </a:r>
            <a:r>
              <a:rPr lang="en-US" dirty="0"/>
              <a:t> </a:t>
            </a:r>
            <a:r>
              <a:rPr lang="en-US" sz="3600" dirty="0" err="1"/>
              <a:t>Planin</a:t>
            </a:r>
            <a:r>
              <a:rPr lang="en-US" sz="3600" dirty="0"/>
              <a:t> e </a:t>
            </a:r>
            <a:r>
              <a:rPr lang="en-US" sz="3600" dirty="0" err="1"/>
              <a:t>identifikimit</a:t>
            </a:r>
            <a:r>
              <a:rPr lang="en-US" sz="3600" dirty="0"/>
              <a:t> </a:t>
            </a:r>
            <a:r>
              <a:rPr lang="en-US" sz="3600" dirty="0" err="1"/>
              <a:t>dhe</a:t>
            </a:r>
            <a:r>
              <a:rPr lang="en-US" sz="3600" dirty="0"/>
              <a:t> </a:t>
            </a:r>
            <a:r>
              <a:rPr lang="en-US" sz="3600" dirty="0" err="1"/>
              <a:t>vendosjes</a:t>
            </a:r>
            <a:r>
              <a:rPr lang="en-US" sz="3600" dirty="0"/>
              <a:t> </a:t>
            </a:r>
            <a:r>
              <a:rPr lang="en-US" sz="3600" dirty="0" err="1"/>
              <a:t>së</a:t>
            </a:r>
            <a:r>
              <a:rPr lang="en-US" sz="3600" dirty="0"/>
              <a:t> </a:t>
            </a:r>
            <a:r>
              <a:rPr lang="en-US" sz="3600" dirty="0" err="1"/>
              <a:t>prizave</a:t>
            </a:r>
            <a:r>
              <a:rPr lang="en-US" sz="3600" dirty="0"/>
              <a:t> </a:t>
            </a:r>
            <a:r>
              <a:rPr lang="en-US" sz="3600" dirty="0" err="1"/>
              <a:t>në</a:t>
            </a:r>
            <a:r>
              <a:rPr lang="en-US" sz="3600" dirty="0"/>
              <a:t> </a:t>
            </a:r>
            <a:r>
              <a:rPr lang="en-US" sz="3600" dirty="0" err="1"/>
              <a:t>zonën</a:t>
            </a:r>
            <a:r>
              <a:rPr lang="en-US" sz="3600" dirty="0"/>
              <a:t> e </a:t>
            </a:r>
            <a:r>
              <a:rPr lang="en-US" sz="3600" dirty="0" err="1"/>
              <a:t>punës</a:t>
            </a:r>
            <a:endParaRPr lang="en-US" sz="4000"/>
          </a:p>
        </p:txBody>
      </p:sp>
      <p:pic>
        <p:nvPicPr>
          <p:cNvPr id="7" name="Picture 7" descr="Diagram&#10;&#10;Description automatically generated">
            <a:extLst>
              <a:ext uri="{FF2B5EF4-FFF2-40B4-BE49-F238E27FC236}">
                <a16:creationId xmlns="" xmlns:a16="http://schemas.microsoft.com/office/drawing/2014/main" id="{C3020F91-8953-41B1-B9F0-75BC14626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671" y="1264817"/>
            <a:ext cx="6349732" cy="448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656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1E6DF38-D72C-43AA-9BCB-EF37276ED4B3}"/>
              </a:ext>
            </a:extLst>
          </p:cNvPr>
          <p:cNvSpPr txBox="1"/>
          <p:nvPr/>
        </p:nvSpPr>
        <p:spPr>
          <a:xfrm>
            <a:off x="116681" y="80962"/>
            <a:ext cx="901779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err="1"/>
              <a:t>Karakteristikat</a:t>
            </a:r>
            <a:r>
              <a:rPr lang="en-US" sz="3200" dirty="0"/>
              <a:t> </a:t>
            </a:r>
            <a:r>
              <a:rPr lang="en-US" sz="3200" err="1"/>
              <a:t>gjenerale</a:t>
            </a:r>
            <a:r>
              <a:rPr lang="en-US" sz="3200" dirty="0"/>
              <a:t> </a:t>
            </a:r>
            <a:r>
              <a:rPr lang="en-US" sz="3200" err="1"/>
              <a:t>të</a:t>
            </a:r>
            <a:r>
              <a:rPr lang="en-US" sz="3200" dirty="0"/>
              <a:t> </a:t>
            </a:r>
            <a:r>
              <a:rPr lang="en-US" sz="3200" err="1"/>
              <a:t>hapësirës</a:t>
            </a:r>
            <a:r>
              <a:rPr lang="en-US" sz="3200" dirty="0"/>
              <a:t> </a:t>
            </a:r>
            <a:r>
              <a:rPr lang="en-US" sz="3200" err="1"/>
              <a:t>së</a:t>
            </a:r>
            <a:r>
              <a:rPr lang="en-US" sz="3200" dirty="0"/>
              <a:t> </a:t>
            </a:r>
            <a:r>
              <a:rPr lang="en-US" sz="3200" err="1"/>
              <a:t>dhomës</a:t>
            </a:r>
            <a:endParaRPr lang="en-US" sz="3200"/>
          </a:p>
        </p:txBody>
      </p:sp>
      <p:sp>
        <p:nvSpPr>
          <p:cNvPr id="5" name="Arrow: Right 4">
            <a:extLst>
              <a:ext uri="{FF2B5EF4-FFF2-40B4-BE49-F238E27FC236}">
                <a16:creationId xmlns="" xmlns:a16="http://schemas.microsoft.com/office/drawing/2014/main" id="{F8CE00C8-A193-4175-A28C-A5CF41DF24AC}"/>
              </a:ext>
            </a:extLst>
          </p:cNvPr>
          <p:cNvSpPr/>
          <p:nvPr/>
        </p:nvSpPr>
        <p:spPr>
          <a:xfrm>
            <a:off x="427576" y="972120"/>
            <a:ext cx="2155030" cy="14882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 err="1">
                <a:ea typeface="+mn-lt"/>
                <a:cs typeface="+mn-lt"/>
              </a:rPr>
              <a:t>Specifikimet</a:t>
            </a:r>
            <a:r>
              <a:rPr lang="en-US" b="1" dirty="0">
                <a:ea typeface="+mn-lt"/>
                <a:cs typeface="+mn-lt"/>
              </a:rPr>
              <a:t> e </a:t>
            </a:r>
            <a:r>
              <a:rPr lang="en-US" b="1" dirty="0" err="1">
                <a:ea typeface="+mn-lt"/>
                <a:cs typeface="+mn-lt"/>
              </a:rPr>
              <a:t>dhomës</a:t>
            </a:r>
            <a:endParaRPr lang="en-US" dirty="0" err="1"/>
          </a:p>
        </p:txBody>
      </p:sp>
      <p:sp>
        <p:nvSpPr>
          <p:cNvPr id="6" name="Arrow: Right 5">
            <a:extLst>
              <a:ext uri="{FF2B5EF4-FFF2-40B4-BE49-F238E27FC236}">
                <a16:creationId xmlns="" xmlns:a16="http://schemas.microsoft.com/office/drawing/2014/main" id="{FFB89501-37FA-4824-8F06-69D9B3E05B3C}"/>
              </a:ext>
            </a:extLst>
          </p:cNvPr>
          <p:cNvSpPr/>
          <p:nvPr/>
        </p:nvSpPr>
        <p:spPr>
          <a:xfrm>
            <a:off x="427576" y="5175027"/>
            <a:ext cx="2155030" cy="14882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 err="1">
                <a:ea typeface="+mn-lt"/>
                <a:cs typeface="+mn-lt"/>
              </a:rPr>
              <a:t>Mbrojtja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nga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zjarri</a:t>
            </a:r>
            <a:endParaRPr lang="en-US" dirty="0" err="1"/>
          </a:p>
        </p:txBody>
      </p:sp>
      <p:sp>
        <p:nvSpPr>
          <p:cNvPr id="7" name="Arrow: Right 6">
            <a:extLst>
              <a:ext uri="{FF2B5EF4-FFF2-40B4-BE49-F238E27FC236}">
                <a16:creationId xmlns="" xmlns:a16="http://schemas.microsoft.com/office/drawing/2014/main" id="{36A43EE8-D766-49E3-B699-CFA8898F5870}"/>
              </a:ext>
            </a:extLst>
          </p:cNvPr>
          <p:cNvSpPr/>
          <p:nvPr/>
        </p:nvSpPr>
        <p:spPr>
          <a:xfrm>
            <a:off x="427576" y="3139059"/>
            <a:ext cx="2155030" cy="14882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 err="1">
                <a:ea typeface="+mn-lt"/>
                <a:cs typeface="+mn-lt"/>
              </a:rPr>
              <a:t>Pajisjet</a:t>
            </a:r>
            <a:endParaRPr lang="en-US" dirty="0" err="1"/>
          </a:p>
        </p:txBody>
      </p:sp>
      <p:sp>
        <p:nvSpPr>
          <p:cNvPr id="8" name="Rectangle: Rounded Corners 7">
            <a:extLst>
              <a:ext uri="{FF2B5EF4-FFF2-40B4-BE49-F238E27FC236}">
                <a16:creationId xmlns="" xmlns:a16="http://schemas.microsoft.com/office/drawing/2014/main" id="{F1CAA834-7CF0-4187-875A-3D67AF530E5A}"/>
              </a:ext>
            </a:extLst>
          </p:cNvPr>
          <p:cNvSpPr/>
          <p:nvPr/>
        </p:nvSpPr>
        <p:spPr>
          <a:xfrm>
            <a:off x="2888456" y="971549"/>
            <a:ext cx="8358187" cy="1488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Wingdings"/>
              <a:buChar char="q"/>
            </a:pPr>
            <a:r>
              <a:rPr lang="en-US" sz="2000" dirty="0"/>
              <a:t>Muret, </a:t>
            </a:r>
            <a:r>
              <a:rPr lang="en-US" sz="2000" dirty="0" err="1"/>
              <a:t>tavani</a:t>
            </a:r>
            <a:r>
              <a:rPr lang="en-US" sz="2000" dirty="0"/>
              <a:t> </a:t>
            </a:r>
            <a:r>
              <a:rPr lang="en-US" sz="2000" dirty="0" err="1"/>
              <a:t>dhe</a:t>
            </a:r>
            <a:r>
              <a:rPr lang="en-US" sz="2000" dirty="0"/>
              <a:t> </a:t>
            </a:r>
            <a:r>
              <a:rPr lang="en-US" sz="2000" dirty="0" err="1"/>
              <a:t>dyert</a:t>
            </a:r>
            <a:r>
              <a:rPr lang="en-US" sz="2000" dirty="0"/>
              <a:t> </a:t>
            </a:r>
            <a:r>
              <a:rPr lang="en-US" sz="2000" dirty="0" err="1"/>
              <a:t>duhet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jenë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izoluara</a:t>
            </a:r>
            <a:r>
              <a:rPr lang="en-US" sz="2000" dirty="0"/>
              <a:t> </a:t>
            </a:r>
            <a:r>
              <a:rPr lang="en-US" sz="2000" dirty="0" err="1"/>
              <a:t>nga</a:t>
            </a:r>
            <a:r>
              <a:rPr lang="en-US" sz="2000" dirty="0"/>
              <a:t> </a:t>
            </a:r>
            <a:r>
              <a:rPr lang="en-US" sz="2000" dirty="0" err="1"/>
              <a:t>hapsirat</a:t>
            </a:r>
            <a:r>
              <a:rPr lang="en-US" sz="2000" dirty="0"/>
              <a:t> </a:t>
            </a:r>
            <a:r>
              <a:rPr lang="en-US" sz="2000" dirty="0" err="1"/>
              <a:t>tjera</a:t>
            </a:r>
            <a:r>
              <a:rPr lang="en-US" sz="2000" dirty="0">
                <a:latin typeface="Arial"/>
                <a:ea typeface="Arial"/>
                <a:cs typeface="Arial"/>
              </a:rPr>
              <a:t>·</a:t>
            </a:r>
            <a:r>
              <a:rPr lang="en-US" sz="1100" dirty="0"/>
              <a:t>  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shkaqe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sigurisë</a:t>
            </a:r>
            <a:r>
              <a:rPr lang="en-US" sz="2000" dirty="0"/>
              <a:t> </a:t>
            </a:r>
            <a:r>
              <a:rPr lang="en-US" sz="2000" dirty="0" err="1"/>
              <a:t>dhe</a:t>
            </a:r>
            <a:r>
              <a:rPr lang="en-US" sz="2000" dirty="0"/>
              <a:t> </a:t>
            </a:r>
            <a:r>
              <a:rPr lang="en-US" sz="2000" dirty="0" err="1"/>
              <a:t>problemit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zhurmave</a:t>
            </a:r>
            <a:r>
              <a:rPr lang="en-US" sz="2000" dirty="0"/>
              <a:t> </a:t>
            </a:r>
            <a:r>
              <a:rPr lang="en-US" sz="2000" dirty="0" err="1"/>
              <a:t>nuk</a:t>
            </a:r>
            <a:r>
              <a:rPr lang="en-US" sz="2000" dirty="0"/>
              <a:t> </a:t>
            </a:r>
            <a:r>
              <a:rPr lang="en-US" sz="2000" dirty="0" err="1"/>
              <a:t>duhet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ketë</a:t>
            </a:r>
            <a:r>
              <a:rPr lang="en-US" sz="2000" dirty="0"/>
              <a:t> </a:t>
            </a:r>
            <a:r>
              <a:rPr lang="en-US" sz="2000" dirty="0" err="1"/>
              <a:t>dritare</a:t>
            </a:r>
            <a:r>
              <a:rPr lang="en-US" sz="2000" dirty="0"/>
              <a:t>.</a:t>
            </a:r>
            <a:r>
              <a:rPr lang="en-US" sz="1100" dirty="0"/>
              <a:t>   </a:t>
            </a:r>
            <a:r>
              <a:rPr lang="en-US" sz="2000" dirty="0"/>
              <a:t>Tavani </a:t>
            </a:r>
            <a:r>
              <a:rPr lang="en-US" sz="2000" dirty="0" err="1"/>
              <a:t>duhet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jete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lartë</a:t>
            </a:r>
            <a:r>
              <a:rPr lang="en-US" sz="2000" dirty="0"/>
              <a:t> 2.7 </a:t>
            </a:r>
            <a:r>
              <a:rPr lang="en-US" sz="2000" dirty="0" err="1"/>
              <a:t>metra</a:t>
            </a:r>
            <a:r>
              <a:rPr lang="en-US" sz="2000" dirty="0">
                <a:latin typeface="Arial"/>
                <a:ea typeface="Arial"/>
                <a:cs typeface="Arial"/>
              </a:rPr>
              <a:t>·</a:t>
            </a:r>
            <a:r>
              <a:rPr lang="en-US" sz="1100" dirty="0"/>
              <a:t>   </a:t>
            </a:r>
            <a:r>
              <a:rPr lang="en-US" sz="2000" dirty="0" err="1"/>
              <a:t>Dyert</a:t>
            </a:r>
            <a:r>
              <a:rPr lang="en-US" sz="2000" dirty="0"/>
              <a:t> </a:t>
            </a:r>
            <a:r>
              <a:rPr lang="en-US" sz="2000" dirty="0" err="1"/>
              <a:t>duhet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jenë</a:t>
            </a:r>
            <a:r>
              <a:rPr lang="en-US" sz="2000" dirty="0"/>
              <a:t> 1-1.2 </a:t>
            </a:r>
            <a:r>
              <a:rPr lang="en-US" sz="2000" dirty="0" err="1"/>
              <a:t>metra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gjera</a:t>
            </a:r>
            <a:r>
              <a:rPr lang="en-US" sz="2000" dirty="0"/>
              <a:t> </a:t>
            </a:r>
            <a:r>
              <a:rPr lang="en-US" sz="2000" dirty="0" err="1"/>
              <a:t>dhe</a:t>
            </a:r>
            <a:r>
              <a:rPr lang="en-US" sz="2000" dirty="0"/>
              <a:t> 2.4 </a:t>
            </a:r>
            <a:r>
              <a:rPr lang="en-US" sz="2000" dirty="0" err="1"/>
              <a:t>metra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larta</a:t>
            </a:r>
            <a:r>
              <a:rPr lang="en-US" sz="2000" dirty="0"/>
              <a:t>.</a:t>
            </a:r>
            <a:endParaRPr lang="en-US" sz="2000" b="1" dirty="0" err="1">
              <a:ea typeface="+mn-lt"/>
              <a:cs typeface="+mn-l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="" xmlns:a16="http://schemas.microsoft.com/office/drawing/2014/main" id="{765E69F7-5FCC-4D81-93DB-1BB6BB269422}"/>
              </a:ext>
            </a:extLst>
          </p:cNvPr>
          <p:cNvSpPr/>
          <p:nvPr/>
        </p:nvSpPr>
        <p:spPr>
          <a:xfrm>
            <a:off x="3031330" y="2864643"/>
            <a:ext cx="8215311" cy="17621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Wingdings"/>
              <a:buChar char="q"/>
            </a:pPr>
            <a:r>
              <a:rPr lang="en-US" sz="2000" dirty="0" err="1"/>
              <a:t>Rakët</a:t>
            </a:r>
            <a:r>
              <a:rPr lang="en-US" sz="2000" dirty="0"/>
              <a:t> e </a:t>
            </a:r>
            <a:r>
              <a:rPr lang="en-US" sz="2000" dirty="0" err="1"/>
              <a:t>kompjuterit</a:t>
            </a:r>
            <a:r>
              <a:rPr lang="en-US" sz="2000" dirty="0"/>
              <a:t> </a:t>
            </a:r>
            <a:r>
              <a:rPr lang="en-US" sz="2000" dirty="0" err="1"/>
              <a:t>duhet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kenë</a:t>
            </a:r>
            <a:r>
              <a:rPr lang="en-US" sz="2000" dirty="0"/>
              <a:t> </a:t>
            </a:r>
            <a:r>
              <a:rPr lang="en-US" sz="2000" dirty="0" err="1"/>
              <a:t>bazament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përshtatshëm</a:t>
            </a:r>
            <a:r>
              <a:rPr lang="en-US" sz="2000" dirty="0"/>
              <a:t> </a:t>
            </a:r>
            <a:r>
              <a:rPr lang="en-US" sz="2000" dirty="0" err="1"/>
              <a:t>dhe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qëndrueshëm</a:t>
            </a:r>
            <a:r>
              <a:rPr lang="en-US" sz="2000" dirty="0"/>
              <a:t>.</a:t>
            </a:r>
            <a:endParaRPr lang="en-US" sz="2400" dirty="0"/>
          </a:p>
          <a:p>
            <a:pPr marL="342900" indent="-342900" algn="ctr">
              <a:buFont typeface="Wingdings"/>
              <a:buChar char="q"/>
            </a:pPr>
            <a:r>
              <a:rPr lang="en-US" sz="2000" dirty="0"/>
              <a:t>  </a:t>
            </a:r>
            <a:r>
              <a:rPr lang="en-US" sz="2000" dirty="0" err="1"/>
              <a:t>Intensiteti</a:t>
            </a:r>
            <a:r>
              <a:rPr lang="en-US" sz="2000" dirty="0"/>
              <a:t> </a:t>
            </a:r>
            <a:r>
              <a:rPr lang="en-US" sz="2000" dirty="0" err="1"/>
              <a:t>elektrik</a:t>
            </a:r>
            <a:r>
              <a:rPr lang="en-US" sz="2000" dirty="0"/>
              <a:t> </a:t>
            </a:r>
            <a:r>
              <a:rPr lang="en-US" sz="2000" dirty="0" err="1"/>
              <a:t>maksimal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paisjeve</a:t>
            </a:r>
            <a:r>
              <a:rPr lang="en-US" sz="2000" dirty="0"/>
              <a:t> </a:t>
            </a:r>
            <a:r>
              <a:rPr lang="en-US" sz="2000" dirty="0" err="1"/>
              <a:t>duhet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jetë</a:t>
            </a:r>
            <a:r>
              <a:rPr lang="en-US" sz="2000" dirty="0"/>
              <a:t> 300 WAT per 0.3 </a:t>
            </a:r>
            <a:r>
              <a:rPr lang="en-US" sz="2000" dirty="0" err="1"/>
              <a:t>metra</a:t>
            </a:r>
            <a:r>
              <a:rPr lang="en-US" sz="2000" dirty="0"/>
              <a:t> </a:t>
            </a:r>
            <a:r>
              <a:rPr lang="en-US" sz="2000" dirty="0" err="1"/>
              <a:t>katror</a:t>
            </a:r>
            <a:endParaRPr lang="en-US" sz="24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="" xmlns:a16="http://schemas.microsoft.com/office/drawing/2014/main" id="{7F785B8D-E143-4002-9650-DE1FABDD6882}"/>
              </a:ext>
            </a:extLst>
          </p:cNvPr>
          <p:cNvSpPr/>
          <p:nvPr/>
        </p:nvSpPr>
        <p:spPr>
          <a:xfrm>
            <a:off x="3043236" y="5174455"/>
            <a:ext cx="8215312" cy="1488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/>
              <a:buChar char="q"/>
            </a:pPr>
            <a:r>
              <a:rPr lang="en-US" dirty="0"/>
              <a:t>Sistem </a:t>
            </a:r>
            <a:r>
              <a:rPr lang="en-US" dirty="0" err="1"/>
              <a:t>adekuat</a:t>
            </a:r>
            <a:r>
              <a:rPr lang="en-US" dirty="0"/>
              <a:t> per </a:t>
            </a:r>
            <a:r>
              <a:rPr lang="en-US" dirty="0" err="1"/>
              <a:t>parandalim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zjarrit.Dhoma</a:t>
            </a:r>
            <a:r>
              <a:rPr lang="en-US" dirty="0"/>
              <a:t> </a:t>
            </a:r>
            <a:r>
              <a:rPr lang="en-US" dirty="0" err="1"/>
              <a:t>duhet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jetë</a:t>
            </a:r>
            <a:r>
              <a:rPr lang="en-US" dirty="0"/>
              <a:t> </a:t>
            </a:r>
            <a:r>
              <a:rPr lang="en-US" dirty="0" err="1"/>
              <a:t>rezistente</a:t>
            </a:r>
            <a:r>
              <a:rPr lang="en-US" dirty="0"/>
              <a:t> </a:t>
            </a:r>
            <a:r>
              <a:rPr lang="en-US" dirty="0" err="1"/>
              <a:t>ndaj</a:t>
            </a:r>
            <a:r>
              <a:rPr lang="en-US" dirty="0"/>
              <a:t> </a:t>
            </a:r>
            <a:r>
              <a:rPr lang="en-US" dirty="0" err="1"/>
              <a:t>zjarrit</a:t>
            </a:r>
            <a:r>
              <a:rPr lang="en-US" dirty="0"/>
              <a:t> </a:t>
            </a:r>
            <a:r>
              <a:rPr lang="en-US" dirty="0" err="1"/>
              <a:t>nëse</a:t>
            </a:r>
            <a:r>
              <a:rPr lang="en-US" dirty="0"/>
              <a:t> </a:t>
            </a:r>
            <a:r>
              <a:rPr lang="en-US" dirty="0" err="1"/>
              <a:t>kabllot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sistemet</a:t>
            </a:r>
            <a:r>
              <a:rPr lang="en-US" dirty="0"/>
              <a:t> e </a:t>
            </a:r>
            <a:r>
              <a:rPr lang="en-US" dirty="0" err="1"/>
              <a:t>ftohjes</a:t>
            </a:r>
            <a:r>
              <a:rPr lang="en-US" dirty="0"/>
              <a:t> </a:t>
            </a:r>
            <a:r>
              <a:rPr lang="en-US" dirty="0" err="1"/>
              <a:t>kombinohen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  </a:t>
            </a:r>
            <a:r>
              <a:rPr lang="en-US" dirty="0" err="1"/>
              <a:t>njëjtën</a:t>
            </a:r>
            <a:r>
              <a:rPr lang="en-US" dirty="0"/>
              <a:t> </a:t>
            </a:r>
            <a:r>
              <a:rPr lang="en-US" dirty="0" err="1"/>
              <a:t>hapësire</a:t>
            </a:r>
            <a:r>
              <a:rPr lang="en-US" dirty="0"/>
              <a:t> </a:t>
            </a:r>
            <a:r>
              <a:rPr lang="en-US" dirty="0" err="1"/>
              <a:t>sipër</a:t>
            </a:r>
            <a:r>
              <a:rPr lang="en-US" dirty="0"/>
              <a:t> </a:t>
            </a:r>
            <a:r>
              <a:rPr lang="en-US" dirty="0" err="1"/>
              <a:t>tavanit</a:t>
            </a:r>
            <a:r>
              <a:rPr lang="en-US" dirty="0"/>
              <a:t>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nën</a:t>
            </a:r>
            <a:r>
              <a:rPr lang="en-US" dirty="0"/>
              <a:t> </a:t>
            </a:r>
            <a:r>
              <a:rPr lang="en-US" dirty="0" err="1"/>
              <a:t>dysheme.Pajisje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parandalim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zjarrit</a:t>
            </a:r>
            <a:r>
              <a:rPr lang="en-US" dirty="0"/>
              <a:t> 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9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320119"/>
              </p:ext>
            </p:extLst>
          </p:nvPr>
        </p:nvGraphicFramePr>
        <p:xfrm>
          <a:off x="561317" y="226339"/>
          <a:ext cx="11036172" cy="6373642"/>
        </p:xfrm>
        <a:graphic>
          <a:graphicData uri="http://schemas.openxmlformats.org/drawingml/2006/table">
            <a:tbl>
              <a:tblPr/>
              <a:tblGrid>
                <a:gridCol w="2759043"/>
                <a:gridCol w="2759043"/>
                <a:gridCol w="2759043"/>
                <a:gridCol w="2759043"/>
              </a:tblGrid>
              <a:tr h="57942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Departamenti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Network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Maska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Nr. </a:t>
                      </a:r>
                      <a:r>
                        <a:rPr lang="en-US" sz="20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hostave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7942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192.168.1.0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/25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~130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7942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172.16.2.0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/27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~30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7942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172.16.3.0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/26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~60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7942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192.168.4.0 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/26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~40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7942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172.16.5.0 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/26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~50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7942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172.16.6.0 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/27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~100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7942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172.16.7.0 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/26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~50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7942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192.168.8.0 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/26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~60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7942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192.168.9.0 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/29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~5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7942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192.168.10.0 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/28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~15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8258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FE57AD35-31D1-4023-894E-DB1F5B0D1448}"/>
              </a:ext>
            </a:extLst>
          </p:cNvPr>
          <p:cNvSpPr/>
          <p:nvPr/>
        </p:nvSpPr>
        <p:spPr>
          <a:xfrm>
            <a:off x="1067371" y="475202"/>
            <a:ext cx="4560092" cy="24764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ea typeface="+mn-lt"/>
                <a:cs typeface="+mn-lt"/>
              </a:rPr>
              <a:t>Sistemi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i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ftohjes</a:t>
            </a:r>
            <a:endParaRPr lang="en-US" sz="2800" dirty="0" err="1"/>
          </a:p>
        </p:txBody>
      </p:sp>
      <p:sp>
        <p:nvSpPr>
          <p:cNvPr id="4" name="Arrow: Down 3">
            <a:extLst>
              <a:ext uri="{FF2B5EF4-FFF2-40B4-BE49-F238E27FC236}">
                <a16:creationId xmlns="" xmlns:a16="http://schemas.microsoft.com/office/drawing/2014/main" id="{65820705-D75D-434E-8DCE-9DB6EA5E3264}"/>
              </a:ext>
            </a:extLst>
          </p:cNvPr>
          <p:cNvSpPr/>
          <p:nvPr/>
        </p:nvSpPr>
        <p:spPr>
          <a:xfrm>
            <a:off x="7020498" y="475203"/>
            <a:ext cx="3845716" cy="24764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/>
              <a:t>Sistemi</a:t>
            </a:r>
            <a:r>
              <a:rPr lang="en-US" sz="2800" b="1" dirty="0"/>
              <a:t> </a:t>
            </a:r>
            <a:r>
              <a:rPr lang="en-US" sz="2800" b="1" dirty="0" err="1"/>
              <a:t>elektrik</a:t>
            </a:r>
            <a:endParaRPr lang="en-US" sz="2800" dirty="0" err="1"/>
          </a:p>
        </p:txBody>
      </p:sp>
      <p:sp>
        <p:nvSpPr>
          <p:cNvPr id="5" name="Rectangle: Rounded Corners 4">
            <a:extLst>
              <a:ext uri="{FF2B5EF4-FFF2-40B4-BE49-F238E27FC236}">
                <a16:creationId xmlns="" xmlns:a16="http://schemas.microsoft.com/office/drawing/2014/main" id="{1D29DF6C-F698-4717-A650-2E2133F678E1}"/>
              </a:ext>
            </a:extLst>
          </p:cNvPr>
          <p:cNvSpPr/>
          <p:nvPr/>
        </p:nvSpPr>
        <p:spPr>
          <a:xfrm>
            <a:off x="1233487" y="3495674"/>
            <a:ext cx="4393405" cy="24884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Wingdings"/>
              <a:buChar char="q"/>
            </a:pPr>
            <a:r>
              <a:rPr lang="en-US" sz="2000" dirty="0">
                <a:ea typeface="+mn-lt"/>
                <a:cs typeface="+mn-lt"/>
              </a:rPr>
              <a:t>·   </a:t>
            </a:r>
            <a:r>
              <a:rPr lang="en-US" sz="2000" dirty="0" err="1">
                <a:ea typeface="+mn-lt"/>
                <a:cs typeface="+mn-lt"/>
              </a:rPr>
              <a:t>Preferohet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sistem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 smtClean="0">
                <a:ea typeface="+mn-lt"/>
                <a:cs typeface="+mn-lt"/>
              </a:rPr>
              <a:t>ajrosjes</a:t>
            </a:r>
            <a:r>
              <a:rPr lang="en-US" sz="2000" dirty="0" smtClean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nën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dysheme</a:t>
            </a:r>
            <a:endParaRPr lang="en-US" sz="2000" dirty="0"/>
          </a:p>
          <a:p>
            <a:pPr marL="342900" indent="-342900" algn="ctr">
              <a:buFont typeface="Wingdings"/>
              <a:buChar char="q"/>
            </a:pPr>
            <a:r>
              <a:rPr lang="en-US" sz="2000" dirty="0">
                <a:ea typeface="+mn-lt"/>
                <a:cs typeface="+mn-lt"/>
              </a:rPr>
              <a:t>·   </a:t>
            </a:r>
            <a:r>
              <a:rPr lang="en-US" sz="2000" dirty="0" err="1">
                <a:ea typeface="+mn-lt"/>
                <a:cs typeface="+mn-lt"/>
              </a:rPr>
              <a:t>Sistemi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ftohës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dhomës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duhet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të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jetë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në</a:t>
            </a:r>
            <a:r>
              <a:rPr lang="en-US" sz="2000" dirty="0">
                <a:ea typeface="+mn-lt"/>
                <a:cs typeface="+mn-lt"/>
              </a:rPr>
              <a:t> 22 ˚C</a:t>
            </a:r>
            <a:endParaRPr lang="en-US" sz="2000" dirty="0"/>
          </a:p>
          <a:p>
            <a:pPr marL="342900" indent="-342900" algn="ctr">
              <a:buFont typeface="Wingdings"/>
              <a:buChar char="q"/>
            </a:pPr>
            <a:r>
              <a:rPr lang="en-US" sz="2000" dirty="0">
                <a:ea typeface="+mn-lt"/>
                <a:cs typeface="+mn-lt"/>
              </a:rPr>
              <a:t>·   </a:t>
            </a:r>
            <a:r>
              <a:rPr lang="en-US" sz="2000" dirty="0" err="1">
                <a:ea typeface="+mn-lt"/>
                <a:cs typeface="+mn-lt"/>
              </a:rPr>
              <a:t>Sistemi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kontrollit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të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lageshtisë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në</a:t>
            </a:r>
            <a:r>
              <a:rPr lang="en-US" sz="2000" dirty="0">
                <a:ea typeface="+mn-lt"/>
                <a:cs typeface="+mn-lt"/>
              </a:rPr>
              <a:t> 45%(±5%).</a:t>
            </a:r>
            <a:endParaRPr lang="en-US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="" xmlns:a16="http://schemas.microsoft.com/office/drawing/2014/main" id="{F3AB1785-3B61-4346-AEB5-FEE9BDE964AC}"/>
              </a:ext>
            </a:extLst>
          </p:cNvPr>
          <p:cNvSpPr/>
          <p:nvPr/>
        </p:nvSpPr>
        <p:spPr>
          <a:xfrm>
            <a:off x="7019925" y="3495675"/>
            <a:ext cx="4619623" cy="25955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Wingdings"/>
              <a:buChar char="q"/>
            </a:pPr>
            <a:r>
              <a:rPr lang="en-US" sz="2000" err="1"/>
              <a:t>Hapësira</a:t>
            </a:r>
            <a:r>
              <a:rPr lang="en-US" sz="2000" dirty="0"/>
              <a:t> e </a:t>
            </a:r>
            <a:r>
              <a:rPr lang="en-US" sz="2000" err="1"/>
              <a:t>dhomës</a:t>
            </a:r>
            <a:r>
              <a:rPr lang="en-US" sz="2000" dirty="0"/>
              <a:t>.</a:t>
            </a:r>
          </a:p>
          <a:p>
            <a:pPr marL="171450" indent="-171450" algn="ctr">
              <a:buFont typeface="Wingdings"/>
              <a:buChar char="q"/>
            </a:pPr>
            <a:r>
              <a:rPr lang="en-US" sz="2000" err="1">
                <a:ea typeface="+mn-lt"/>
                <a:cs typeface="+mn-lt"/>
              </a:rPr>
              <a:t>Cilësia</a:t>
            </a:r>
            <a:r>
              <a:rPr lang="en-US" sz="2000" dirty="0">
                <a:ea typeface="+mn-lt"/>
                <a:cs typeface="+mn-lt"/>
              </a:rPr>
              <a:t> e </a:t>
            </a:r>
            <a:r>
              <a:rPr lang="en-US" sz="2000" err="1">
                <a:ea typeface="+mn-lt"/>
                <a:cs typeface="+mn-lt"/>
              </a:rPr>
              <a:t>rrymës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elektrike</a:t>
            </a:r>
            <a:r>
              <a:rPr lang="en-US" sz="2000" dirty="0">
                <a:ea typeface="+mn-lt"/>
                <a:cs typeface="+mn-lt"/>
              </a:rPr>
              <a:t> e </a:t>
            </a:r>
            <a:r>
              <a:rPr lang="en-US" sz="2000" err="1">
                <a:ea typeface="+mn-lt"/>
                <a:cs typeface="+mn-lt"/>
              </a:rPr>
              <a:t>ndërtesës</a:t>
            </a:r>
            <a:r>
              <a:rPr lang="en-US" sz="2000" dirty="0">
                <a:ea typeface="+mn-lt"/>
                <a:cs typeface="+mn-lt"/>
              </a:rPr>
              <a:t>.</a:t>
            </a:r>
          </a:p>
          <a:p>
            <a:pPr marL="171450" indent="-171450" algn="ctr">
              <a:buFont typeface="Wingdings"/>
              <a:buChar char="q"/>
            </a:pPr>
            <a:r>
              <a:rPr lang="en-US" sz="2000" dirty="0">
                <a:ea typeface="+mn-lt"/>
                <a:cs typeface="+mn-lt"/>
              </a:rPr>
              <a:t> </a:t>
            </a:r>
            <a:r>
              <a:rPr lang="en-US" sz="2000" err="1">
                <a:ea typeface="+mn-lt"/>
                <a:cs typeface="+mn-lt"/>
              </a:rPr>
              <a:t>Instalimi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elektrik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dhomës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së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serverëve</a:t>
            </a:r>
            <a:r>
              <a:rPr lang="en-US" sz="2000" dirty="0">
                <a:ea typeface="+mn-lt"/>
                <a:cs typeface="+mn-lt"/>
              </a:rPr>
              <a:t>.</a:t>
            </a:r>
          </a:p>
          <a:p>
            <a:pPr marL="171450" indent="-171450" algn="ctr">
              <a:buFont typeface="Wingdings"/>
              <a:buChar char="q"/>
            </a:pPr>
            <a:r>
              <a:rPr lang="en-US" sz="2000" dirty="0">
                <a:ea typeface="+mn-lt"/>
                <a:cs typeface="+mn-lt"/>
              </a:rPr>
              <a:t>  </a:t>
            </a:r>
            <a:r>
              <a:rPr lang="en-US" sz="2000" err="1">
                <a:ea typeface="+mn-lt"/>
                <a:cs typeface="+mn-lt"/>
              </a:rPr>
              <a:t>Dhoma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duhet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të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ketë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lidhje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elektrike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të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veçanta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për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pajisjet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kompjuterike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dhe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për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rrjetin</a:t>
            </a:r>
            <a:r>
              <a:rPr lang="en-US" sz="2000" dirty="0">
                <a:ea typeface="+mn-lt"/>
                <a:cs typeface="+mn-lt"/>
              </a:rPr>
              <a:t> e </a:t>
            </a:r>
            <a:r>
              <a:rPr lang="en-US" sz="2000" err="1">
                <a:ea typeface="+mn-lt"/>
                <a:cs typeface="+mn-lt"/>
              </a:rPr>
              <a:t>ndriçimit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dhe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atë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të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kondicionimit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dhe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ventilimit</a:t>
            </a:r>
            <a:r>
              <a:rPr lang="en-US" sz="2000" dirty="0">
                <a:ea typeface="+mn-lt"/>
                <a:cs typeface="+mn-lt"/>
              </a:rPr>
              <a:t> . 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508959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08" y="2378939"/>
            <a:ext cx="3505504" cy="28425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47311" y="452674"/>
            <a:ext cx="50971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Implementimi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projektit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3208" y="1204111"/>
            <a:ext cx="113258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Projekti</a:t>
            </a:r>
            <a:r>
              <a:rPr lang="en-US" sz="2000" dirty="0" smtClean="0"/>
              <a:t> </a:t>
            </a:r>
            <a:r>
              <a:rPr lang="en-US" sz="2000" dirty="0" err="1" smtClean="0"/>
              <a:t>i</a:t>
            </a:r>
            <a:r>
              <a:rPr lang="en-US" sz="2000" dirty="0" smtClean="0"/>
              <a:t> </a:t>
            </a:r>
            <a:r>
              <a:rPr lang="en-US" sz="2000" dirty="0" err="1" smtClean="0"/>
              <a:t>implementuar</a:t>
            </a:r>
            <a:r>
              <a:rPr lang="en-US" sz="2000" dirty="0" smtClean="0"/>
              <a:t> </a:t>
            </a:r>
            <a:r>
              <a:rPr lang="en-US" sz="2000" dirty="0" err="1" smtClean="0"/>
              <a:t>përfshin</a:t>
            </a:r>
            <a:r>
              <a:rPr lang="en-US" sz="2000" dirty="0" smtClean="0"/>
              <a:t> </a:t>
            </a:r>
            <a:r>
              <a:rPr lang="en-US" sz="2000" dirty="0" err="1" smtClean="0"/>
              <a:t>gjithë</a:t>
            </a:r>
            <a:r>
              <a:rPr lang="en-US" sz="2000" dirty="0" smtClean="0"/>
              <a:t> </a:t>
            </a:r>
            <a:r>
              <a:rPr lang="en-US" sz="2000" dirty="0" err="1" smtClean="0"/>
              <a:t>materialin</a:t>
            </a:r>
            <a:r>
              <a:rPr lang="en-US" sz="2000" dirty="0" smtClean="0"/>
              <a:t> </a:t>
            </a:r>
            <a:r>
              <a:rPr lang="en-US" sz="2000" dirty="0" err="1" smtClean="0"/>
              <a:t>mësimor</a:t>
            </a:r>
            <a:r>
              <a:rPr lang="en-US" sz="2000" dirty="0" smtClean="0"/>
              <a:t> </a:t>
            </a:r>
            <a:r>
              <a:rPr lang="en-US" sz="2000" dirty="0" err="1" smtClean="0"/>
              <a:t>të</a:t>
            </a:r>
            <a:r>
              <a:rPr lang="en-US" sz="2000" dirty="0" smtClean="0"/>
              <a:t> </a:t>
            </a:r>
            <a:r>
              <a:rPr lang="en-US" sz="2000" dirty="0" err="1" smtClean="0"/>
              <a:t>trajtuar</a:t>
            </a:r>
            <a:r>
              <a:rPr lang="en-US" sz="2000" dirty="0" smtClean="0"/>
              <a:t> </a:t>
            </a:r>
            <a:r>
              <a:rPr lang="en-US" sz="2000" dirty="0" err="1" smtClean="0"/>
              <a:t>në</a:t>
            </a:r>
            <a:r>
              <a:rPr lang="en-US" sz="2000" dirty="0" smtClean="0"/>
              <a:t> </a:t>
            </a:r>
            <a:r>
              <a:rPr lang="en-US" sz="2000" dirty="0" err="1" smtClean="0"/>
              <a:t>këtë</a:t>
            </a:r>
            <a:r>
              <a:rPr lang="en-US" sz="2000" dirty="0" smtClean="0"/>
              <a:t> </a:t>
            </a:r>
            <a:r>
              <a:rPr lang="en-US" sz="2000" dirty="0" err="1" smtClean="0"/>
              <a:t>lëndë</a:t>
            </a:r>
            <a:r>
              <a:rPr lang="en-US" sz="2000" dirty="0" smtClean="0"/>
              <a:t>. </a:t>
            </a:r>
            <a:r>
              <a:rPr lang="en-US" sz="2000" dirty="0" err="1" smtClean="0"/>
              <a:t>Në</a:t>
            </a:r>
            <a:r>
              <a:rPr lang="en-US" sz="2000" dirty="0" smtClean="0"/>
              <a:t> </a:t>
            </a:r>
            <a:r>
              <a:rPr lang="en-US" sz="2000" dirty="0" err="1" smtClean="0"/>
              <a:t>vazhdim</a:t>
            </a:r>
            <a:r>
              <a:rPr lang="en-US" sz="2000" dirty="0" smtClean="0"/>
              <a:t> do </a:t>
            </a:r>
            <a:r>
              <a:rPr lang="en-US" sz="2000" dirty="0" err="1" smtClean="0"/>
              <a:t>të</a:t>
            </a:r>
            <a:r>
              <a:rPr lang="en-US" sz="2000" dirty="0" smtClean="0"/>
              <a:t> </a:t>
            </a:r>
            <a:r>
              <a:rPr lang="en-US" sz="2000" dirty="0" err="1" smtClean="0"/>
              <a:t>jepen</a:t>
            </a:r>
            <a:r>
              <a:rPr lang="en-US" sz="2000" dirty="0" smtClean="0"/>
              <a:t> </a:t>
            </a:r>
            <a:r>
              <a:rPr lang="en-US" sz="2000" dirty="0" err="1" smtClean="0"/>
              <a:t>figura</a:t>
            </a:r>
            <a:r>
              <a:rPr lang="en-US" sz="2000" dirty="0" smtClean="0"/>
              <a:t> prej </a:t>
            </a:r>
            <a:r>
              <a:rPr lang="en-US" sz="2000" dirty="0" err="1" smtClean="0"/>
              <a:t>nga</a:t>
            </a:r>
            <a:r>
              <a:rPr lang="en-US" sz="2000" dirty="0" smtClean="0"/>
              <a:t> </a:t>
            </a:r>
            <a:r>
              <a:rPr lang="en-US" sz="2000" dirty="0" err="1" smtClean="0"/>
              <a:t>shihet</a:t>
            </a:r>
            <a:r>
              <a:rPr lang="en-US" sz="2000" dirty="0" smtClean="0"/>
              <a:t> </a:t>
            </a:r>
            <a:r>
              <a:rPr lang="en-US" sz="2000" dirty="0" err="1" smtClean="0"/>
              <a:t>përdorimi</a:t>
            </a:r>
            <a:r>
              <a:rPr lang="en-US" sz="2000" dirty="0" smtClean="0"/>
              <a:t> </a:t>
            </a:r>
            <a:r>
              <a:rPr lang="en-US" sz="2000" dirty="0" err="1" smtClean="0"/>
              <a:t>i</a:t>
            </a:r>
            <a:r>
              <a:rPr lang="en-US" sz="2000" dirty="0" smtClean="0"/>
              <a:t> </a:t>
            </a:r>
            <a:r>
              <a:rPr lang="en-US" sz="2000" dirty="0" err="1" smtClean="0"/>
              <a:t>materialit</a:t>
            </a:r>
            <a:r>
              <a:rPr lang="en-US" sz="2000" dirty="0" smtClean="0"/>
              <a:t> </a:t>
            </a:r>
            <a:r>
              <a:rPr lang="en-US" sz="2000" dirty="0" err="1" smtClean="0"/>
              <a:t>të</a:t>
            </a:r>
            <a:r>
              <a:rPr lang="en-US" sz="2000" dirty="0" smtClean="0"/>
              <a:t> </a:t>
            </a:r>
            <a:r>
              <a:rPr lang="en-US" sz="2000" dirty="0" err="1" smtClean="0"/>
              <a:t>mësuar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1558401" y="5397848"/>
            <a:ext cx="3675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Përdorimi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DHCP tek router-</a:t>
            </a:r>
            <a:r>
              <a:rPr lang="en-US" dirty="0" err="1" smtClean="0"/>
              <a:t>i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7935" y="2304107"/>
            <a:ext cx="3990037" cy="29173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82919" y="5397848"/>
            <a:ext cx="3675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Konfigurimi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disa</a:t>
            </a:r>
            <a:r>
              <a:rPr lang="en-US" dirty="0" smtClean="0"/>
              <a:t> prej interfaces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321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595" y="1335551"/>
            <a:ext cx="5350667" cy="201566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019" y="1819747"/>
            <a:ext cx="5701290" cy="10496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03879" y="3498489"/>
            <a:ext cx="2381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Përdorimi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ip</a:t>
            </a:r>
            <a:r>
              <a:rPr lang="en-US" dirty="0" smtClean="0"/>
              <a:t> route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920276" y="3498489"/>
            <a:ext cx="2916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Bllokimi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një </a:t>
            </a:r>
            <a:r>
              <a:rPr lang="en-US" dirty="0" err="1" smtClean="0"/>
              <a:t>adrese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409" y="4626321"/>
            <a:ext cx="5833221" cy="941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47996" y="5862431"/>
            <a:ext cx="2672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Përdorimi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NAT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318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3336" y="491379"/>
            <a:ext cx="3829052" cy="38542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76104" y="4403180"/>
            <a:ext cx="3965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Konfigurimi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një prej </a:t>
            </a:r>
            <a:r>
              <a:rPr lang="en-US" dirty="0" err="1"/>
              <a:t>laptopëve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rrjet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38" y="491379"/>
            <a:ext cx="3692800" cy="373581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141" y="2315969"/>
            <a:ext cx="3797293" cy="38224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00" y="5997059"/>
            <a:ext cx="4146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Konfigurimi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një prej </a:t>
            </a:r>
            <a:r>
              <a:rPr lang="en-US" dirty="0" err="1" smtClean="0"/>
              <a:t>laptopëve</a:t>
            </a:r>
            <a:r>
              <a:rPr lang="en-US" dirty="0" smtClean="0"/>
              <a:t> me DHCP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190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10683" y="178754"/>
            <a:ext cx="5115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Rezultatet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testimit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89" y="950686"/>
            <a:ext cx="4237783" cy="202986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269" y="950686"/>
            <a:ext cx="4432389" cy="20298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116" y="3860747"/>
            <a:ext cx="4763270" cy="21831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60743" y="3200804"/>
            <a:ext cx="6581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Ping </a:t>
            </a:r>
            <a:r>
              <a:rPr lang="en-US" dirty="0" err="1" smtClean="0"/>
              <a:t>nga</a:t>
            </a:r>
            <a:r>
              <a:rPr lang="en-US" dirty="0" smtClean="0"/>
              <a:t> </a:t>
            </a:r>
            <a:r>
              <a:rPr lang="en-US" dirty="0" err="1" smtClean="0"/>
              <a:t>kompjuteri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njërit</a:t>
            </a:r>
            <a:r>
              <a:rPr lang="en-US" dirty="0" smtClean="0"/>
              <a:t> router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kompjuterin</a:t>
            </a:r>
            <a:r>
              <a:rPr lang="en-US" dirty="0" smtClean="0"/>
              <a:t> e router-it </a:t>
            </a:r>
            <a:r>
              <a:rPr lang="en-US" dirty="0" err="1" smtClean="0"/>
              <a:t>tjetër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232754" y="6228061"/>
            <a:ext cx="4037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Ping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njërit</a:t>
            </a:r>
            <a:r>
              <a:rPr lang="en-US" dirty="0" smtClean="0"/>
              <a:t> prej </a:t>
            </a:r>
            <a:r>
              <a:rPr lang="en-US" dirty="0" err="1" smtClean="0"/>
              <a:t>kompjuterëve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398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0203" y="2770361"/>
            <a:ext cx="104929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 FALEMINDERIT PËR VËMENDJEN!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9183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Goudy Old Style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oudy Old Style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632</Words>
  <Application>Microsoft Office PowerPoint</Application>
  <PresentationFormat>Widescreen</PresentationFormat>
  <Paragraphs>192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Cambria</vt:lpstr>
      <vt:lpstr>Goudy Old Style</vt:lpstr>
      <vt:lpstr>Times New Roman</vt:lpstr>
      <vt:lpstr>Trebuchet MS</vt:lpstr>
      <vt:lpstr>Wingdings</vt:lpstr>
      <vt:lpstr>Wingdings 2</vt:lpstr>
      <vt:lpstr>SlateVTI</vt:lpstr>
      <vt:lpstr>Implementimi i rrjetës në Policinë e Kosovës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Rrezearta Thaqi</dc:creator>
  <cp:lastModifiedBy>Rrezearta Thaqi</cp:lastModifiedBy>
  <cp:revision>322</cp:revision>
  <dcterms:created xsi:type="dcterms:W3CDTF">2021-06-29T22:30:46Z</dcterms:created>
  <dcterms:modified xsi:type="dcterms:W3CDTF">2021-06-30T20:06:28Z</dcterms:modified>
</cp:coreProperties>
</file>